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7" r:id="rId3"/>
    <p:sldId id="269"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00CC99"/>
    <a:srgbClr val="000099"/>
    <a:srgbClr val="FF7C80"/>
    <a:srgbClr val="996633"/>
    <a:srgbClr val="00FFCC"/>
    <a:srgbClr val="FF66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autoAdjust="0"/>
    <p:restoredTop sz="94660"/>
  </p:normalViewPr>
  <p:slideViewPr>
    <p:cSldViewPr snapToGrid="0">
      <p:cViewPr varScale="1">
        <p:scale>
          <a:sx n="48" d="100"/>
          <a:sy n="48" d="100"/>
        </p:scale>
        <p:origin x="53" y="9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13FEEA-7EF8-4B4F-B647-AD5DE229E75B}" type="datetimeFigureOut">
              <a:rPr lang="en-IN" smtClean="0"/>
              <a:t>24-11-2025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19EBBD-D052-4B1B-97A1-FED2D203AD11}" type="slidenum">
              <a:rPr lang="en-IN" smtClean="0"/>
              <a:t>‹#›</a:t>
            </a:fld>
            <a:endParaRPr lang="en-IN"/>
          </a:p>
        </p:txBody>
      </p:sp>
    </p:spTree>
    <p:extLst>
      <p:ext uri="{BB962C8B-B14F-4D97-AF65-F5344CB8AC3E}">
        <p14:creationId xmlns:p14="http://schemas.microsoft.com/office/powerpoint/2010/main" val="400250551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21C35-106D-45D2-98A3-D27A656E76DB}" type="datetimeFigureOut">
              <a:rPr lang="en-IN" smtClean="0"/>
              <a:t>24-11-2025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6554F3-B0BD-42B2-A7DD-86BA5FCB815B}" type="slidenum">
              <a:rPr lang="en-IN" smtClean="0"/>
              <a:t>‹#›</a:t>
            </a:fld>
            <a:endParaRPr lang="en-IN"/>
          </a:p>
        </p:txBody>
      </p:sp>
    </p:spTree>
    <p:extLst>
      <p:ext uri="{BB962C8B-B14F-4D97-AF65-F5344CB8AC3E}">
        <p14:creationId xmlns:p14="http://schemas.microsoft.com/office/powerpoint/2010/main" val="284683174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D713962-4865-4228-81E3-00D3CFBC0BFA}" type="datetime1">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8300" y="6445250"/>
            <a:ext cx="2743200" cy="365125"/>
          </a:xfrm>
        </p:spPr>
        <p:txBody>
          <a:bodyPr/>
          <a:lstStyle/>
          <a:p>
            <a:fld id="{38A635C9-4A98-4745-BD96-9D0E32025E69}" type="slidenum">
              <a:rPr lang="en-IN" smtClean="0"/>
              <a:t>‹#›</a:t>
            </a:fld>
            <a:endParaRPr lang="en-IN" dirty="0"/>
          </a:p>
        </p:txBody>
      </p:sp>
    </p:spTree>
    <p:extLst>
      <p:ext uri="{BB962C8B-B14F-4D97-AF65-F5344CB8AC3E}">
        <p14:creationId xmlns:p14="http://schemas.microsoft.com/office/powerpoint/2010/main" val="244172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159816-9E0E-4378-B675-9EC54FD6E1EE}" type="datetime1">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333273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6F0435-5393-459B-B8D1-48E7839C38C5}" type="datetime1">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649543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52D6B79-AEBC-4F2D-871B-4F95F7AD7A80}" type="datetime1">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410643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B2545F7-ABF2-4D18-ACD2-7BD0A8EF4B83}" type="datetime1">
              <a:rPr lang="en-IN" smtClean="0"/>
              <a:t>24-11-2025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414335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7FE66FB-CD15-47C6-89EF-F7FE10D1EED8}" type="datetime1">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492890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6808B-F1D3-4175-85AD-E8FCCDE72517}" type="datetime1">
              <a:rPr lang="en-IN" smtClean="0"/>
              <a:t>24-11-2025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85576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B3C0D1-6746-44E2-8941-ACBF328B313B}" type="datetime1">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87909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19EB3B-693B-49EE-AD0C-7C04F31CDB5B}" type="datetime1">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205872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C6663D-5144-4E9D-ACC1-AE116A0B35F1}" type="datetime1">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69819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C72366-8802-4337-B04F-63ED80D84AF4}" type="datetime1">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299985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B04D1D-AFCB-4734-808E-3BDFE7C445A8}" type="datetime1">
              <a:rPr lang="en-IN" smtClean="0"/>
              <a:t>24-11-2025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9258300" y="6492875"/>
            <a:ext cx="2743200" cy="365125"/>
          </a:xfrm>
          <a:prstGeom prst="rect">
            <a:avLst/>
          </a:prstGeom>
        </p:spPr>
        <p:txBody>
          <a:bodyPr vert="horz" lIns="91440" tIns="45720" rIns="91440" bIns="45720" rtlCol="0" anchor="ctr"/>
          <a:lstStyle>
            <a:lvl1pPr algn="r">
              <a:defRPr sz="1200" b="1">
                <a:solidFill>
                  <a:schemeClr val="bg1"/>
                </a:solidFill>
              </a:defRPr>
            </a:lvl1pPr>
          </a:lstStyle>
          <a:p>
            <a:fld id="{38A635C9-4A98-4745-BD96-9D0E32025E69}" type="slidenum">
              <a:rPr lang="en-IN" smtClean="0"/>
              <a:pPr/>
              <a:t>‹#›</a:t>
            </a:fld>
            <a:endParaRPr lang="en-IN" dirty="0"/>
          </a:p>
        </p:txBody>
      </p:sp>
    </p:spTree>
    <p:extLst>
      <p:ext uri="{BB962C8B-B14F-4D97-AF65-F5344CB8AC3E}">
        <p14:creationId xmlns:p14="http://schemas.microsoft.com/office/powerpoint/2010/main" val="59776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8B3B0A-D291-4B7B-AB48-0197BCAFFEFD}"/>
              </a:ext>
            </a:extLst>
          </p:cNvPr>
          <p:cNvSpPr txBox="1"/>
          <p:nvPr/>
        </p:nvSpPr>
        <p:spPr>
          <a:xfrm>
            <a:off x="13219" y="2854316"/>
            <a:ext cx="12192000" cy="646331"/>
          </a:xfrm>
          <a:prstGeom prst="rect">
            <a:avLst/>
          </a:prstGeom>
          <a:solidFill>
            <a:srgbClr val="C00000"/>
          </a:solidFill>
          <a:effectLst>
            <a:outerShdw blurRad="50800" dist="38100" dir="2700000" algn="tl" rotWithShape="0">
              <a:prstClr val="black">
                <a:alpha val="40000"/>
              </a:prstClr>
            </a:outerShdw>
          </a:effectLst>
        </p:spPr>
        <p:txBody>
          <a:bodyPr wrap="square" rtlCol="0" anchor="ctr">
            <a:spAutoFit/>
          </a:bodyPr>
          <a:lstStyle/>
          <a:p>
            <a:pPr algn="ctr"/>
            <a:r>
              <a:rPr lang="en-US" altLang="ko-KR" sz="3600" dirty="0">
                <a:solidFill>
                  <a:schemeClr val="bg1"/>
                </a:solidFill>
                <a:latin typeface="Times New Roman" pitchFamily="18" charset="0"/>
                <a:cs typeface="Times New Roman" pitchFamily="18" charset="0"/>
              </a:rPr>
              <a:t>District-Level Agricultural Data Analysis(ICRISAT Dataset)</a:t>
            </a:r>
            <a:endParaRPr lang="ko-KR" altLang="en-US" sz="3600" dirty="0">
              <a:solidFill>
                <a:schemeClr val="bg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CF8B3B0A-D291-4B7B-AB48-0197BCAFFEFD}"/>
              </a:ext>
            </a:extLst>
          </p:cNvPr>
          <p:cNvSpPr txBox="1"/>
          <p:nvPr/>
        </p:nvSpPr>
        <p:spPr>
          <a:xfrm>
            <a:off x="2798011" y="5632528"/>
            <a:ext cx="6579821" cy="369332"/>
          </a:xfrm>
          <a:prstGeom prst="rect">
            <a:avLst/>
          </a:prstGeom>
          <a:noFill/>
        </p:spPr>
        <p:txBody>
          <a:bodyPr wrap="square" rtlCol="0" anchor="ctr">
            <a:spAutoFit/>
          </a:bodyPr>
          <a:lstStyle/>
          <a:p>
            <a:pPr algn="ctr"/>
            <a:r>
              <a:rPr lang="en-US" altLang="ko-KR" b="1" dirty="0">
                <a:solidFill>
                  <a:srgbClr val="000099"/>
                </a:solidFill>
                <a:latin typeface="Times New Roman" pitchFamily="18" charset="0"/>
                <a:cs typeface="Times New Roman" pitchFamily="18" charset="0"/>
              </a:rPr>
              <a:t>Symbiosis Institute of Technology, Nagpur Campus</a:t>
            </a:r>
            <a:endParaRPr lang="ko-KR" altLang="en-US" b="1" dirty="0">
              <a:solidFill>
                <a:srgbClr val="000099"/>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CF8B3B0A-D291-4B7B-AB48-0197BCAFFEFD}"/>
              </a:ext>
            </a:extLst>
          </p:cNvPr>
          <p:cNvSpPr txBox="1"/>
          <p:nvPr/>
        </p:nvSpPr>
        <p:spPr>
          <a:xfrm>
            <a:off x="1133105" y="1688315"/>
            <a:ext cx="9853560" cy="769441"/>
          </a:xfrm>
          <a:prstGeom prst="rect">
            <a:avLst/>
          </a:prstGeom>
          <a:noFill/>
        </p:spPr>
        <p:txBody>
          <a:bodyPr wrap="square" rtlCol="0" anchor="ctr">
            <a:spAutoFit/>
          </a:bodyPr>
          <a:lstStyle/>
          <a:p>
            <a:pPr algn="ctr"/>
            <a:r>
              <a:rPr lang="en-US" altLang="ko-KR" sz="4400" dirty="0">
                <a:solidFill>
                  <a:srgbClr val="000099"/>
                </a:solidFill>
                <a:latin typeface="Times New Roman" pitchFamily="18" charset="0"/>
                <a:cs typeface="Times New Roman" pitchFamily="18" charset="0"/>
              </a:rPr>
              <a:t>DATA SCIENCE</a:t>
            </a:r>
          </a:p>
        </p:txBody>
      </p:sp>
      <p:sp>
        <p:nvSpPr>
          <p:cNvPr id="43" name="TextBox 42">
            <a:extLst>
              <a:ext uri="{FF2B5EF4-FFF2-40B4-BE49-F238E27FC236}">
                <a16:creationId xmlns:a16="http://schemas.microsoft.com/office/drawing/2014/main" id="{CF8B3B0A-D291-4B7B-AB48-0197BCAFFEFD}"/>
              </a:ext>
            </a:extLst>
          </p:cNvPr>
          <p:cNvSpPr txBox="1"/>
          <p:nvPr/>
        </p:nvSpPr>
        <p:spPr>
          <a:xfrm>
            <a:off x="2914170" y="4176358"/>
            <a:ext cx="6390099" cy="954107"/>
          </a:xfrm>
          <a:prstGeom prst="rect">
            <a:avLst/>
          </a:prstGeom>
          <a:noFill/>
        </p:spPr>
        <p:txBody>
          <a:bodyPr wrap="square" rtlCol="0" anchor="ctr">
            <a:spAutoFit/>
          </a:bodyPr>
          <a:lstStyle/>
          <a:p>
            <a:pPr algn="ctr"/>
            <a:r>
              <a:rPr lang="en-US" altLang="ko-KR" sz="2800" dirty="0">
                <a:solidFill>
                  <a:srgbClr val="000099"/>
                </a:solidFill>
                <a:latin typeface="Times New Roman" pitchFamily="18" charset="0"/>
                <a:cs typeface="Times New Roman" pitchFamily="18" charset="0"/>
              </a:rPr>
              <a:t>Divya Talole</a:t>
            </a:r>
          </a:p>
          <a:p>
            <a:pPr algn="ctr"/>
            <a:r>
              <a:rPr lang="en-US" altLang="ko-KR" sz="2800" dirty="0">
                <a:solidFill>
                  <a:srgbClr val="000099"/>
                </a:solidFill>
                <a:latin typeface="Times New Roman" pitchFamily="18" charset="0"/>
                <a:cs typeface="Times New Roman" pitchFamily="18" charset="0"/>
              </a:rPr>
              <a:t>22070521066</a:t>
            </a:r>
          </a:p>
        </p:txBody>
      </p:sp>
      <p:grpSp>
        <p:nvGrpSpPr>
          <p:cNvPr id="85" name="Group 84"/>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F5B2E5E-F1FB-4B49-A15E-DFC13B08436B}"/>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65E93E9-4624-4300-9736-8AD2206DEEDC}"/>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95" name="Group 194">
            <a:extLst>
              <a:ext uri="{FF2B5EF4-FFF2-40B4-BE49-F238E27FC236}">
                <a16:creationId xmlns:a16="http://schemas.microsoft.com/office/drawing/2014/main" id="{565E93E9-4624-4300-9736-8AD2206DEEDC}"/>
              </a:ext>
            </a:extLst>
          </p:cNvPr>
          <p:cNvGrpSpPr/>
          <p:nvPr/>
        </p:nvGrpSpPr>
        <p:grpSpPr>
          <a:xfrm>
            <a:off x="450920" y="6490548"/>
            <a:ext cx="4247655" cy="273466"/>
            <a:chOff x="4366684" y="2926127"/>
            <a:chExt cx="3278335" cy="2571063"/>
          </a:xfrm>
        </p:grpSpPr>
        <p:sp>
          <p:nvSpPr>
            <p:cNvPr id="196"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7"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8"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9"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0"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1"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2"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3"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4"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5"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6"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7"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8"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9"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0"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1"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2"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3"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4"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5"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6"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7"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8"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9"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0"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1"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2"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3"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4"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5"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6"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7"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8"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9"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30"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521" y="190223"/>
            <a:ext cx="6879350" cy="999746"/>
          </a:xfrm>
          <a:prstGeom prst="rect">
            <a:avLst/>
          </a:prstGeom>
        </p:spPr>
      </p:pic>
      <p:grpSp>
        <p:nvGrpSpPr>
          <p:cNvPr id="7" name="Group 6"/>
          <p:cNvGrpSpPr/>
          <p:nvPr/>
        </p:nvGrpSpPr>
        <p:grpSpPr>
          <a:xfrm>
            <a:off x="4815395" y="6382131"/>
            <a:ext cx="7369479" cy="465286"/>
            <a:chOff x="4817758" y="6382984"/>
            <a:chExt cx="7369479" cy="465286"/>
          </a:xfrm>
        </p:grpSpPr>
        <p:sp>
          <p:nvSpPr>
            <p:cNvPr id="3" name="Rectangle 2"/>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sp>
        <p:nvSpPr>
          <p:cNvPr id="10" name="Slide Number Placeholder 9"/>
          <p:cNvSpPr>
            <a:spLocks noGrp="1"/>
          </p:cNvSpPr>
          <p:nvPr>
            <p:ph type="sldNum" sz="quarter" idx="12"/>
          </p:nvPr>
        </p:nvSpPr>
        <p:spPr/>
        <p:txBody>
          <a:bodyPr/>
          <a:lstStyle/>
          <a:p>
            <a:fld id="{38A635C9-4A98-4745-BD96-9D0E32025E69}" type="slidenum">
              <a:rPr lang="en-IN" smtClean="0"/>
              <a:t>1</a:t>
            </a:fld>
            <a:endParaRPr lang="en-IN"/>
          </a:p>
        </p:txBody>
      </p:sp>
    </p:spTree>
    <p:extLst>
      <p:ext uri="{BB962C8B-B14F-4D97-AF65-F5344CB8AC3E}">
        <p14:creationId xmlns:p14="http://schemas.microsoft.com/office/powerpoint/2010/main" val="321747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F5B2E5E-F1FB-4B49-A15E-DFC13B08436B}"/>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65E93E9-4624-4300-9736-8AD2206DEEDC}"/>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565E93E9-4624-4300-9736-8AD2206DEEDC}"/>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Overview &amp; Data</a:t>
            </a:r>
            <a:endParaRPr lang="ko-KR" altLang="en-US" sz="3600" dirty="0">
              <a:solidFill>
                <a:srgbClr val="000099"/>
              </a:solidFill>
              <a:latin typeface="Times New Roman" pitchFamily="18" charset="0"/>
              <a:cs typeface="Times New Roman"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p:cNvSpPr>
            <a:spLocks noGrp="1"/>
          </p:cNvSpPr>
          <p:nvPr>
            <p:ph type="sldNum" sz="quarter" idx="12"/>
          </p:nvPr>
        </p:nvSpPr>
        <p:spPr/>
        <p:txBody>
          <a:bodyPr/>
          <a:lstStyle/>
          <a:p>
            <a:fld id="{38A635C9-4A98-4745-BD96-9D0E32025E69}" type="slidenum">
              <a:rPr lang="en-IN" smtClean="0"/>
              <a:t>2</a:t>
            </a:fld>
            <a:endParaRPr lang="en-IN" dirty="0"/>
          </a:p>
        </p:txBody>
      </p:sp>
      <p:sp>
        <p:nvSpPr>
          <p:cNvPr id="6" name="TextBox 5">
            <a:extLst>
              <a:ext uri="{FF2B5EF4-FFF2-40B4-BE49-F238E27FC236}">
                <a16:creationId xmlns:a16="http://schemas.microsoft.com/office/drawing/2014/main" id="{BA42EBD9-5C7B-7172-E7DA-5432C049F7F8}"/>
              </a:ext>
            </a:extLst>
          </p:cNvPr>
          <p:cNvSpPr txBox="1"/>
          <p:nvPr/>
        </p:nvSpPr>
        <p:spPr>
          <a:xfrm>
            <a:off x="749339" y="1397675"/>
            <a:ext cx="10313668" cy="3416320"/>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Objective: </a:t>
            </a:r>
            <a:r>
              <a:rPr lang="en-IN" dirty="0">
                <a:latin typeface="Times New Roman" panose="02020603050405020304" pitchFamily="18" charset="0"/>
                <a:cs typeface="Times New Roman" panose="02020603050405020304" pitchFamily="18" charset="0"/>
              </a:rPr>
              <a:t>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ICRISAT district-level dataset to understand the key factors driving agricultural productivity, model crop yields, and classify district profiles.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Dataset:</a:t>
            </a:r>
          </a:p>
          <a:p>
            <a:pPr algn="just"/>
            <a:r>
              <a:rPr lang="en-IN" dirty="0">
                <a:latin typeface="Times New Roman" panose="02020603050405020304" pitchFamily="18" charset="0"/>
                <a:cs typeface="Times New Roman" panose="02020603050405020304" pitchFamily="18" charset="0"/>
              </a:rPr>
              <a:t>	Source: ICRISAT District Level Data</a:t>
            </a:r>
          </a:p>
          <a:p>
            <a:pPr algn="just"/>
            <a:r>
              <a:rPr lang="en-IN" dirty="0">
                <a:latin typeface="Times New Roman" panose="02020603050405020304" pitchFamily="18" charset="0"/>
                <a:cs typeface="Times New Roman" panose="02020603050405020304" pitchFamily="18" charset="0"/>
              </a:rPr>
              <a:t>	Scope: 12,803 entries, 107 original columns </a:t>
            </a:r>
          </a:p>
          <a:p>
            <a:pPr algn="just"/>
            <a:r>
              <a:rPr lang="en-IN" dirty="0">
                <a:latin typeface="Times New Roman" panose="02020603050405020304" pitchFamily="18" charset="0"/>
                <a:cs typeface="Times New Roman" panose="02020603050405020304" pitchFamily="18" charset="0"/>
              </a:rPr>
              <a:t>	Key Variables: Crop production/yield, monthly climate data, fertilizer consumption, irrigation area.</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Methodology:</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Preprocessing: Standardized names, imputed missing values using state-level means.</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Feature Engineering: Created key metrics like </a:t>
            </a:r>
            <a:r>
              <a:rPr lang="en-IN" dirty="0" err="1">
                <a:latin typeface="Times New Roman" panose="02020603050405020304" pitchFamily="18" charset="0"/>
                <a:cs typeface="Times New Roman" panose="02020603050405020304" pitchFamily="18" charset="0"/>
              </a:rPr>
              <a:t>irrigation_ratio</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yield_per_fertilizer</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temperature_c</a:t>
            </a:r>
            <a:r>
              <a:rPr lang="en-IN" dirty="0">
                <a:latin typeface="Times New Roman" panose="02020603050405020304" pitchFamily="18" charset="0"/>
                <a:cs typeface="Times New Roman" panose="02020603050405020304" pitchFamily="18" charset="0"/>
              </a:rPr>
              <a:t> 	(annual </a:t>
            </a:r>
            <a:r>
              <a:rPr lang="en-IN"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 , and </a:t>
            </a:r>
            <a:r>
              <a:rPr lang="en-IN" dirty="0" err="1">
                <a:latin typeface="Times New Roman" panose="02020603050405020304" pitchFamily="18" charset="0"/>
                <a:cs typeface="Times New Roman" panose="02020603050405020304" pitchFamily="18" charset="0"/>
              </a:rPr>
              <a:t>fertiliser_per_ha</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8538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C836-E11C-62EA-63BC-FEDD351B8353}"/>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BE60A1FA-C835-2C3A-03D4-0912A36846E7}"/>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B3C32C4F-BA1D-7764-FCC8-4BD14FA73BE3}"/>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92801C3E-975B-DA69-8A8C-ABD7F37A3CD0}"/>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221B7F6E-FA12-6816-7366-CEB2BC53CCE0}"/>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6860611-DF1C-EF51-BFE9-B887AA7F470F}"/>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8697CBFE-6725-CC2B-4DD6-C8D0C3D7DD37}"/>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87DC33E9-3C45-DD28-3072-ECFFD7FA308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70D1F2BC-FE49-0846-7EF6-FCE57078855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4EAA7DFC-1B8D-5ED6-EEB9-F07F1D40B020}"/>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00B4A0FD-719A-919E-D29F-32AB3241E06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636FD79D-7760-C9A7-B696-830350DF962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61446BE6-DAD6-4D45-15A4-89DC1F9A9EA5}"/>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47373C7A-63BF-24FB-CA3C-46EF5D4CBBAE}"/>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5768E8B0-AFC3-7B12-234F-936E0EB6FD62}"/>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C49A5268-7E73-E85A-2124-23B53593C354}"/>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DD1401A5-BC6B-4EF1-E75E-F953807EAAA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A55094D1-7289-AAF9-C6AE-3A2D019F4280}"/>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5DA6F48-381A-20E4-D77C-26275553D59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8A73D9D1-CABE-9793-DAC8-420C414EB91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517E7311-C370-2233-B982-4DF5E559D6CF}"/>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FF2B7481-156C-7472-8828-3AFC0B58775E}"/>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9BD5492D-E1F8-1517-CE9F-6BC76CBE9BF5}"/>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CFA529C4-778F-37FF-F0AC-6812D250602C}"/>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ACFB96EE-0E9F-DADC-0BCE-A32EEDAFD204}"/>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2C8D854E-6C35-2A33-8EC6-A7A7347A3B4B}"/>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277EFBBC-899C-BDC3-7455-7762A2C9CD8D}"/>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399F4964-63ED-ECB0-1EC5-37A2CF0BC57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0C10E4A6-0B5B-F648-69C1-25F2A1754C7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DB502886-8A83-966C-A853-4869CAC6D856}"/>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1EF4FA05-37EA-4423-9062-E7AA5051DFF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1132F4C7-BE50-D122-A4C3-D6EFDE923CAA}"/>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41E17795-9BFF-9223-E213-DBA692E42B9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9A2D64D3-2F12-B9AD-3CBC-F03ED2831B9C}"/>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F8D838C4-A308-1C15-9580-2B9CB8F16D6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8F42B523-E06A-C7AA-D964-A84C9604391A}"/>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39423A6-8853-BC87-0984-E022707E289E}"/>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A772AEF-95A6-7AF8-C742-D118E03DFB82}"/>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184F7479-E332-F59F-F188-2D369B3706EC}"/>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819B8C70-E537-1BD0-F235-595DA93D8D06}"/>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64CEC5DD-DC63-591A-946E-D70E01530327}"/>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3958E98D-F644-45A6-F791-36F8638BC4EC}"/>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FC514075-F5A0-8F7D-9A2A-55AB4E27251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3C56EE8D-3998-C57C-98DC-6DE736AC23F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CFECAA68-D731-48F2-E731-F8B6A037BB0D}"/>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D1B1A647-03AC-D6B3-AB18-1A633E83439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FBE2A557-A582-2977-3141-EA89DB74C622}"/>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FB7B26C6-67CD-716F-C351-C4735749AD4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EE06A982-953B-78D6-15F9-FB7118EA5B1E}"/>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711C8C4D-C84C-D896-5D8E-59F5E802481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71FA7150-6028-A3DD-B7F5-D81CD67C7A15}"/>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7129E650-8931-D125-79D0-EE987F9945DB}"/>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8D98533F-5A6C-AADA-A287-518D30AA92C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5F405516-4653-2018-FDD0-09AF94E3F4ED}"/>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373AC0AA-0DCD-9787-5D32-A5630A28DBE7}"/>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21A723B9-8644-113A-2320-04D1FE96273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CC976EB8-71E2-14D3-AD61-AC015B270AAE}"/>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1C37807D-AFC2-A82D-710B-3B530EF9525E}"/>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BD83E33E-133B-EF58-6DEA-1C84DB44F783}"/>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71CFDEBB-FB69-5B27-186C-A2E90FC07E3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8CD22576-157D-EFC4-86A9-95F01FAA6B1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F9869052-539E-FFD7-1B7B-980CA08B9055}"/>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870B56BB-6AED-B8CF-F145-1C2B0ABC4AB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6A6BE9D2-E0CD-EE65-1E96-2392CDA5382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310C9C4E-91DC-8D42-6558-65FFDB92A96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0711997F-C541-80DF-8770-391082634A8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31565A52-1996-9579-A061-B939807F4A12}"/>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CFF003A0-607A-3DBB-24E7-647B0001608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FB66BF6F-C4C7-6D8A-9606-6B8F723CAF32}"/>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F8457FFE-8E4B-2D38-AFCF-B7310DBCA02E}"/>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20795726-CF93-40B8-D3DC-8198C86A5FA3}"/>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1BB79B94-CA07-7C2B-55C8-630A392CC737}"/>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67D9F66F-D3E3-1789-5BC8-57B8ADAE379F}"/>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4220B3F6-A07B-618D-F4ED-AED6EF690A16}"/>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516D5C44-C109-6E78-84A2-144A09A7077A}"/>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CBF1E9C5-CA03-29EF-6BBA-42695FA446DD}"/>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Methodology - Data Pipeline</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E068BC65-ADB6-DB97-6D64-FCF1D807A5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EFC91345-32C3-B0D1-E4D4-2DC613BF676D}"/>
              </a:ext>
            </a:extLst>
          </p:cNvPr>
          <p:cNvSpPr>
            <a:spLocks noGrp="1"/>
          </p:cNvSpPr>
          <p:nvPr>
            <p:ph type="sldNum" sz="quarter" idx="12"/>
          </p:nvPr>
        </p:nvSpPr>
        <p:spPr/>
        <p:txBody>
          <a:bodyPr/>
          <a:lstStyle/>
          <a:p>
            <a:fld id="{38A635C9-4A98-4745-BD96-9D0E32025E69}" type="slidenum">
              <a:rPr lang="en-IN" smtClean="0"/>
              <a:t>3</a:t>
            </a:fld>
            <a:endParaRPr lang="en-IN" dirty="0"/>
          </a:p>
        </p:txBody>
      </p:sp>
      <p:sp>
        <p:nvSpPr>
          <p:cNvPr id="11" name="Rectangle 6">
            <a:extLst>
              <a:ext uri="{FF2B5EF4-FFF2-40B4-BE49-F238E27FC236}">
                <a16:creationId xmlns:a16="http://schemas.microsoft.com/office/drawing/2014/main" id="{FF5ACB44-70F7-5FFA-E9D3-AA9A0D4E5341}"/>
              </a:ext>
            </a:extLst>
          </p:cNvPr>
          <p:cNvSpPr>
            <a:spLocks noChangeArrowheads="1"/>
          </p:cNvSpPr>
          <p:nvPr/>
        </p:nvSpPr>
        <p:spPr bwMode="auto">
          <a:xfrm>
            <a:off x="1430086" y="1215090"/>
            <a:ext cx="9516297"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ICRISAT District Level Data (1966-2017).</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Standardized column names.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Group Mean Imputation: Filled missing values using state-level averages to preserve regional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Removed duplicates and filtered columns with &gt;30% missing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Engineering: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Irrigation Ratio: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(Gross Irrigated Area / Gross Cropped Area).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(Yield / Fertilizer Consumption).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Climate: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Aggregated monthly rainfall and temperature into annual trends.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0126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77057-B37A-EE3A-C1A4-4DC0A9C76F09}"/>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7CCA56DE-F92F-D84B-139E-B3ACC5C96C3C}"/>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D7E29A3D-B00A-CC1E-6ECC-204128CF0C41}"/>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22FD3053-E465-C587-B194-A6E31BFCDFFE}"/>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D09F971-87AC-E361-9C7D-1EF5F129E508}"/>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14A15AD7-9536-0551-AAF0-34E9B08659B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2E206264-7563-8CB1-5919-9C4279F0DD5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10B09966-B929-4001-2897-7F8D2C8D9126}"/>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7310A66D-5023-8B2B-E6CD-391596A7978A}"/>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567A6D25-4D5D-1622-AB17-8788270510F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94887860-DFF2-9D59-7795-1D85C9118E1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97EC7AC6-9B06-01DC-6A54-5B9492F201DA}"/>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5BC57058-B869-C951-BA4D-A53BA03632F2}"/>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44F2807F-4FFE-D84A-38D3-453D53F1F53A}"/>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4B8D637B-1C05-EE91-C16A-885653A04CD3}"/>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E708E1CF-681F-74B5-841E-58806420129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76CC79E1-14D5-B925-A165-74C990A4448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7FE4EAED-6B4C-8DAD-D849-35C6735793C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32745AEF-C4D8-0B52-4246-CCD38FF39C0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ED3AC879-4D1D-4330-ED91-94D023BCAD2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7CADC6DB-737C-5647-662D-DDF5BD2A364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92EAC556-71A0-16F5-1356-65F845F16BBA}"/>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F5206C4B-BAA5-3601-092F-7D8E0AF4E089}"/>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E028447B-376D-3213-3CBB-5B6F2621BEF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7B99AA20-4C48-3EA2-AC4A-F9936500241E}"/>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708BEF26-BFD4-8A63-CBD3-930811B26C9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D2D89908-B0D4-7D96-C337-4577D3725FD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167BEF94-69B3-87B5-B1C5-D5FB1995E5D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C1AB1754-98D3-7DA9-438F-96BBA938211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48E07868-0CE5-8357-E984-6420BC01966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C98034DE-FFE3-2971-0455-3E9FFABBC510}"/>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A7DDFD26-3518-0682-5BC8-6FCB8D4865B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1FBEC358-AF71-6A7F-D5FA-152C946BF590}"/>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1C0488E3-82B8-6B51-B0E8-3FD3EDF4D48D}"/>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D2B22EBB-8E76-489E-6C46-C950AF84087E}"/>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40975762-2049-6B1B-237C-03FB6BBFB4C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37D4435C-2CD5-DFFB-0DD8-E2FB08FA6E05}"/>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AC499352-E94F-5CAE-3078-66500E2A7B7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62ADC24E-5966-49D0-3631-B35BDE1C927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CDC42506-EA19-32BE-D98D-A9255BC3CCDC}"/>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33DC3CD8-78E0-EB20-BF38-E043E3AB7C7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20AB83A4-7B72-8E73-D835-0E711F6BB4EC}"/>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6C570AFC-34B1-D65F-B2BC-4E244EBA98E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0DEB2B19-E59E-BB06-B3CB-FDA8425D99E6}"/>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1A37C5F3-D3E5-E2E4-A866-ACBA0F20490F}"/>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7F827840-A040-C2C5-DC69-9388D4F6DA4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6FD187F7-D02C-5C03-3C1C-46FCD584E019}"/>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CB49269B-0143-3F3B-99F0-7175526707C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2A378CA7-E951-1C52-1758-5395B73D734B}"/>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6A7E3651-6180-5FA8-6C2E-1D9EA4C62767}"/>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1D8AA55F-D41B-9AD9-C432-59740ABA09B7}"/>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DCAB8F56-9D20-1662-5A9A-2FC1CA509BD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3951BBF6-A5EA-7408-1112-EF79C8E137D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F990E16E-88DC-F90F-98E1-AA9428836854}"/>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E72A1CD5-578E-C1F3-9A5A-6458747433D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04C5D758-B01F-F101-FA60-010D44CB9723}"/>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B3A565A3-D658-7E3D-1CDD-D9FBA1F5C0F9}"/>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4D978D0D-25B1-23BA-99EE-C5CA800F87F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C04BA8B-B5C1-BF19-020E-59A5D98D935C}"/>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9C1EEB21-F8A7-76A2-F6A4-89F88A4F7D3D}"/>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4D04BF17-5B93-902F-191E-2B4C44C886F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2DEFA23B-1B1F-EFC1-5A4A-EAB250D912BC}"/>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A7B8AD66-385A-7F43-51D0-417015B9D9DD}"/>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42655867-1969-2DD9-0772-26470E50BDB5}"/>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85FDD83D-598D-091F-DC67-4500C6F2F5E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C335DC21-9542-2EB7-606D-9503337B4D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EC4AD0CA-3E75-FEA3-1FA3-2AB3FD5E455C}"/>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A85B1202-AA09-AA29-8EC8-0C51DBE176D9}"/>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3BADD652-592A-47BB-271A-59C60292CD0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1EC39716-E427-2C85-F2FD-565A786AA87D}"/>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E4B74B64-6A20-5B23-2430-BD201BB777CB}"/>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0A483DC8-7B41-BFB7-DE13-7E3614A4657D}"/>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82CBBDE1-0B86-E13F-09CA-348C68139074}"/>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C5C54AA9-845C-A123-571C-796A7A60EF0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2EE941FC-DDAF-B579-C509-84DFA8A35B34}"/>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0269648B-C598-3368-ED94-F9C5EC14C145}"/>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Key Factor Correlations</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5D331E5D-D558-4B33-2CE1-1628EEC87F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4155FC8F-EFF6-5760-3EED-FEED5CA46A9C}"/>
              </a:ext>
            </a:extLst>
          </p:cNvPr>
          <p:cNvSpPr>
            <a:spLocks noGrp="1"/>
          </p:cNvSpPr>
          <p:nvPr>
            <p:ph type="sldNum" sz="quarter" idx="12"/>
          </p:nvPr>
        </p:nvSpPr>
        <p:spPr/>
        <p:txBody>
          <a:bodyPr/>
          <a:lstStyle/>
          <a:p>
            <a:fld id="{38A635C9-4A98-4745-BD96-9D0E32025E69}" type="slidenum">
              <a:rPr lang="en-IN" smtClean="0"/>
              <a:t>4</a:t>
            </a:fld>
            <a:endParaRPr lang="en-IN" dirty="0"/>
          </a:p>
        </p:txBody>
      </p:sp>
      <p:sp>
        <p:nvSpPr>
          <p:cNvPr id="6" name="TextBox 5">
            <a:extLst>
              <a:ext uri="{FF2B5EF4-FFF2-40B4-BE49-F238E27FC236}">
                <a16:creationId xmlns:a16="http://schemas.microsoft.com/office/drawing/2014/main" id="{FA61FEEF-3930-8330-C5FF-6F37278693DB}"/>
              </a:ext>
            </a:extLst>
          </p:cNvPr>
          <p:cNvSpPr txBox="1"/>
          <p:nvPr/>
        </p:nvSpPr>
        <p:spPr>
          <a:xfrm>
            <a:off x="725461" y="1095751"/>
            <a:ext cx="10385362" cy="92333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Correlation heatmap reveals the initial relationships between variables. Rice yield (</a:t>
            </a:r>
            <a:r>
              <a:rPr lang="en-US" dirty="0" err="1">
                <a:latin typeface="Times New Roman" panose="02020603050405020304" pitchFamily="18" charset="0"/>
                <a:cs typeface="Times New Roman" panose="02020603050405020304" pitchFamily="18" charset="0"/>
              </a:rPr>
              <a:t>rice_yield_kg_per_ha</a:t>
            </a:r>
            <a:r>
              <a:rPr lang="en-US" dirty="0">
                <a:latin typeface="Times New Roman" panose="02020603050405020304" pitchFamily="18" charset="0"/>
                <a:cs typeface="Times New Roman" panose="02020603050405020304" pitchFamily="18" charset="0"/>
              </a:rPr>
              <a:t>) shows its strongest positive correlation with total fertilizer consumption (0.35) and sugarcane yield (0.36).This suggests that factors driving sugarcane success (likely water and inputs) also drive rice success.</a:t>
            </a:r>
            <a:endParaRPr lang="en-IN" dirty="0">
              <a:latin typeface="Times New Roman" panose="02020603050405020304" pitchFamily="18" charset="0"/>
              <a:cs typeface="Times New Roman" panose="02020603050405020304" pitchFamily="18" charset="0"/>
            </a:endParaRPr>
          </a:p>
        </p:txBody>
      </p:sp>
      <p:pic>
        <p:nvPicPr>
          <p:cNvPr id="2051" name="Picture 3">
            <a:extLst>
              <a:ext uri="{FF2B5EF4-FFF2-40B4-BE49-F238E27FC236}">
                <a16:creationId xmlns:a16="http://schemas.microsoft.com/office/drawing/2014/main" id="{A5EB69D6-2BD8-ABCD-890D-A868EACA1A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8926" y="2248034"/>
            <a:ext cx="4774442" cy="4112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29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548DD-875E-CDA0-289B-4E7420DA9009}"/>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E5735AA2-AB19-BC82-3F38-0C6AA8E1598A}"/>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5D3226FB-DA80-EEF2-F2F1-9D038C4A2F3D}"/>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05F5372B-2F28-6EC8-BC0C-C7B493F57B0D}"/>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4E8BFEED-ED18-0AA9-7AB6-0E84BD7E46FE}"/>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AE5F774F-586B-043E-ABCB-322B669E687D}"/>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02CCD38B-48C2-C5B6-AF8B-727A3E96D7F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666BEE83-871E-BFC7-8B83-3C64DB64815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D06600CC-C1AD-7072-E8B3-DCB2134926F9}"/>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4A09B5A-F23E-4B27-42C9-B420DA537835}"/>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609C5B6D-222E-CDEF-DA60-56202741BE0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85DC2A4C-BCC4-4B7E-7A30-128592B8DA9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B29D6ED4-3EC6-5F2C-8A94-AC9E7BB04AD3}"/>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A9ABA1A2-4579-9E73-01A5-D21D79390820}"/>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A05A952C-52AB-105A-8C2C-54BAB9A70B1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8B0FCE4D-1307-3DBF-C13C-CB4FADD9CF9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8F0E9A01-8A5C-1F65-9EDC-ADD3BB8AD4C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97BA0A6F-22D7-B460-4F0D-C121C8F2A753}"/>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43A90EAA-3F5E-C1FD-3751-7A416D6C0839}"/>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EDA34F32-9D13-E2DA-B50C-4D99BD48D34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04C70716-2D33-1FE8-8A69-B00BE6B3F08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C9DBDD3C-6E14-96A4-383A-682E5BF4CC1E}"/>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5F83220C-5CAD-B899-BD63-1B7876D8B2C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DAD6DD4A-6CD7-9299-4495-CFC6C5EBC3BE}"/>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D87CEBF2-C28E-31C2-29CA-F351D7FD08F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2FA95D23-572B-EEB3-3878-E950846448E0}"/>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4AE347BD-0BA7-D2FB-B945-ED439BA55AC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910D0233-1EE5-3C8E-8A07-CC7DDA5518E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12E01457-A515-FE2C-F951-4ED4D34DDB7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0F7B8F7A-0AD3-CCEA-0C51-112946D6315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F61C2236-2B5A-138B-C689-93255A071D49}"/>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A5BEF0A8-FABC-74A2-1102-CD9898D40508}"/>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18A7EB33-1001-C912-7D82-CB85A9F5065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0AE2FB99-82EB-5F97-10EE-C1D961787CC9}"/>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8B947EB5-5E52-7CE3-4C64-C476C127F195}"/>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57AA567A-FD93-3FEF-09ED-AAE2467FD4A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A4B01EF-282E-8D5E-B939-10789B3BDC8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298AD699-75CF-D260-9CC6-A6F876563A52}"/>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76D5EC0F-18FB-6142-7976-527C546C275B}"/>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120BC21D-852A-E162-7278-C22BE61CD61F}"/>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487A1BBA-9BEE-37E4-7B02-6AA748D5AAE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9FA1C3C4-A1F0-9AE6-1852-106F03965373}"/>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D925CFBD-53EA-D3BD-AAC0-4C216C41D33A}"/>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19B8B0B1-DA7F-BAFF-B4DD-05502D911D50}"/>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D0F4E96D-6C9D-A653-5009-21B486C61089}"/>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D79B6478-D631-0688-22E8-8F564C5A3574}"/>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01BB611C-4348-B77A-B223-37D186B9F5B3}"/>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3100041A-E0E8-994C-50CE-D3B58D5C8396}"/>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AFA49B90-CDAB-30ED-9FDA-57304B6E7ED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5B9D07C6-A841-4D94-C68C-661C5242BC7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A792F0B6-A241-A088-61A1-31CC2BB42116}"/>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20487584-7BE6-9824-2B3E-9C0951714A0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CBF9E2F6-ADFA-F842-ECF3-BC9DB35924A6}"/>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C6C15DB9-0E1E-84BF-1B84-C2C8073FE365}"/>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C1E464D4-FD2A-8CAE-94D9-9FC1E949C875}"/>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D5EAA87F-85A5-49E4-B47C-895B494813B8}"/>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FF2EDB68-6025-EFBB-965D-1CD2FE97EAC4}"/>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FFC56398-8D02-4FE2-8D99-AADB6DE7CEF6}"/>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B88FCA40-A585-3BB5-FCC4-8752F265F8CD}"/>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97AC3C62-4B12-3D71-22B9-6FBA3ED3CF23}"/>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41B63E34-3D5B-9EF9-866A-BD9E1A919D4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BB6BF05E-059B-63DB-45A6-D46C5D0B0198}"/>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0390D866-40A1-EB4D-B5F7-6A1CC478309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42583C58-400F-22BC-28CB-979922579838}"/>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CDF5DACC-293F-D987-2458-C78C00DE4CDF}"/>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0290C69B-52A9-E5BA-274F-D02281E7814E}"/>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357E4373-DF91-5E96-3041-467870DCAB2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71579397-575E-1508-DFC6-56982919D8A9}"/>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5E56D3A9-5791-1FB6-A4B1-A44DAFCBE75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0676AF10-AD86-2713-BBB6-2D36E936D9C5}"/>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14DA86A0-6C23-2687-0B07-CCA22E086B26}"/>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FF6ECF4B-2E63-3780-DDE2-81765ACD7616}"/>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B25B66FF-CC40-3389-6170-254B088C31C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3C9F722B-11D9-E289-F00F-9148A247E899}"/>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5F5A960C-1B80-57D7-6673-21309BAB659D}"/>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03A35636-594B-243B-7167-9E1DC9BC216E}"/>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National Production Trends</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2D49AC37-4967-E20B-20C7-1FA6EDF53E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F3046368-DC60-84A7-7ADA-315246141ED4}"/>
              </a:ext>
            </a:extLst>
          </p:cNvPr>
          <p:cNvSpPr>
            <a:spLocks noGrp="1"/>
          </p:cNvSpPr>
          <p:nvPr>
            <p:ph type="sldNum" sz="quarter" idx="12"/>
          </p:nvPr>
        </p:nvSpPr>
        <p:spPr/>
        <p:txBody>
          <a:bodyPr/>
          <a:lstStyle/>
          <a:p>
            <a:fld id="{38A635C9-4A98-4745-BD96-9D0E32025E69}" type="slidenum">
              <a:rPr lang="en-IN" smtClean="0"/>
              <a:t>5</a:t>
            </a:fld>
            <a:endParaRPr lang="en-IN" dirty="0"/>
          </a:p>
        </p:txBody>
      </p:sp>
      <p:sp>
        <p:nvSpPr>
          <p:cNvPr id="6" name="TextBox 5">
            <a:extLst>
              <a:ext uri="{FF2B5EF4-FFF2-40B4-BE49-F238E27FC236}">
                <a16:creationId xmlns:a16="http://schemas.microsoft.com/office/drawing/2014/main" id="{ACF7B124-752C-60B6-94CB-9E659FA5A266}"/>
              </a:ext>
            </a:extLst>
          </p:cNvPr>
          <p:cNvSpPr txBox="1"/>
          <p:nvPr/>
        </p:nvSpPr>
        <p:spPr>
          <a:xfrm>
            <a:off x="801666" y="1276906"/>
            <a:ext cx="10313668"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National crop production has trended upward, with Rice and Sugarcane dominating total tonnage. Sugarcane production is significantly larger in volume but also shows more volatility than the steadier growth of rice .</a:t>
            </a:r>
            <a:endParaRPr lang="en-IN"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44612CEB-D236-1AD9-CA54-23F8FAE86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5086" y="2276405"/>
            <a:ext cx="7084343" cy="3753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143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D8AD-5789-8EA6-937E-9503F269F7F9}"/>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8B00A7F0-64F5-20E8-AA6A-8D0D98200E94}"/>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64F442EA-B2E2-9C4D-89C5-AB7F4603DA7F}"/>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E6B02E88-D1FC-59FF-BC7D-25FD421F7864}"/>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3C496EC3-0196-434F-750D-0B041BF34905}"/>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C9746325-5B54-F90C-F643-70F5F977867F}"/>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F507AE7C-6261-3720-79CF-AC1600D1DF0D}"/>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9C9A3BCB-1971-A60F-AB0D-7999288B34F2}"/>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01673959-EEB7-958A-1471-4CEA8B80C895}"/>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EE22B3CA-256B-5EBB-B134-13E31FFE88FF}"/>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31A0427C-0965-0914-468E-A085379CD893}"/>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CA58B590-A8B5-75C2-BC51-D02315A46BE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23F0017C-2D71-D181-6263-0CAABF76AE8A}"/>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C304568E-1E3C-41AE-1EDD-FA33CD95BDF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8D33057B-B817-9E37-DD0E-955C904C4E3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9F752E76-9273-3846-4CA0-57A2412B683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DE6D36BD-1019-8C16-6B86-F567992DD54E}"/>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23D0B1A3-3EF7-2393-BB01-48DAE4D801D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4E33F210-E503-7E43-9652-3B18C67CA10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7D76CD8A-CF2F-8752-209B-3A819A6D30A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54509EF8-7B22-FEA4-C98E-98795FF641FF}"/>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44D65091-7129-DB92-A411-7C1C03ECDED6}"/>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63234201-65A2-D1F8-71E2-BD033EE0D359}"/>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3EA28954-210B-4C53-5626-CCA3D61E415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68293745-FC10-0B9B-5783-7596D425810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66897BDF-692A-EF13-69E1-71B7D7B9E877}"/>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09ADE4F0-CD2C-3431-E77C-13112A281A3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0F79C525-D484-FBB4-EF42-42F0E106B94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4BB6C9C6-765F-E2DC-B011-E0B86CF829CB}"/>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3FCF1ADC-432E-CEDC-CBA3-02F8E84494F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2745842E-B6D0-018E-166A-12BCE52B4EE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4EE7A54A-F69F-22EE-BE7D-5666AE519639}"/>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B063F087-1A53-FF41-FB56-CAA6FE60989E}"/>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23CE011C-5920-3CBE-D984-C4310318432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06095945-D8D1-C90D-93F6-5134B0D0C4F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CB8A5E78-C172-4305-1B6F-D8577B990EB7}"/>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34083765-5A39-A1B5-C9CA-625C40FCD141}"/>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8DA00A25-DD62-C243-55AC-15D0851693DC}"/>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B7E86337-2C35-B176-590C-DBDC0852815A}"/>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A56B4EF2-9038-463E-7581-DB9B81AD4735}"/>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B456CC8B-0F03-B410-7319-1DB282A5D102}"/>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C965152F-781C-4857-E645-E08CFF3EAE0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5D1DA234-AB11-2732-6810-79FF3C05B4E6}"/>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12626F79-89E8-F3E7-9719-B2D8B64CE4F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C81A9213-5336-ED67-BC14-5F294068EE6A}"/>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96DDDCAF-7913-76C8-BCD0-986A3CEDEF4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F8D72A3E-48FA-50E5-9437-070A414959C0}"/>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E6D8DF6D-40D0-36D5-0A1E-D75061CCA569}"/>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EA37BC7E-1B2F-3E6F-0BD4-C7773D9711F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722A1B7D-E1F7-C977-F3C1-91E2EF30809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E238DEC5-23BA-373E-7A96-06A211DCCA9F}"/>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AB036A8E-AC4D-BE26-9BA7-304563F8AF8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ADDB9E60-07BA-6D48-69D8-67B0BE2A740D}"/>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760F76F5-2905-3B20-7080-1FB1F15F3BE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8E41EC44-813D-397B-7F0F-FCA00E6AB64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8E38EC4A-3CD0-21E1-1EF3-1F19E93CA30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43380407-9766-DF80-8857-F45BBAD6618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491A79A0-8EEB-3797-ABCA-49CF93B976E3}"/>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024379A4-C097-E262-2E53-A2819F87EEC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02443181-D7C7-F31D-84B5-EA7F86DAB2C9}"/>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F6FE5E9C-FE36-4C95-BAF9-01DDD9C4E8E8}"/>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DEE8C2C8-BF91-18F0-810F-17F07A391BEF}"/>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D279CC5E-1406-0809-7402-4235EB3E6EAD}"/>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58660070-9C82-2F31-CF3C-174E75FCE5AE}"/>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1792BA4-9895-1D25-9E06-F3E840F82F83}"/>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20E96630-B138-0C69-ECB2-14AB5D5F0B0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41179B23-9963-1835-05FC-07568A588F6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11A83CF4-6ADE-8283-85CE-096461E439F7}"/>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0BCDEEE1-6FDA-413C-3ED0-C9F66873583C}"/>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4F1F1ED6-1B2A-AE57-0809-D82AFBCF141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93F2F2BB-5E51-B78F-E58D-EF8CAE468C51}"/>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F7E1AFC4-E916-BDF8-45F0-95C682E30306}"/>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DE272896-95E6-87A9-C95A-E40493537CAE}"/>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4ED5F154-0707-3C5A-0B79-107C1F312D8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D0BD404C-6170-DD09-3BB4-70C2054CAAF5}"/>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52BFB70F-F0BC-3636-5D45-DB2836F83D5D}"/>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State-Level Dominance (Rice)</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3BCF9DFF-C885-6A50-A18F-6EC96E071B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E45F9630-26BE-79DE-6908-70CECF9D42D3}"/>
              </a:ext>
            </a:extLst>
          </p:cNvPr>
          <p:cNvSpPr>
            <a:spLocks noGrp="1"/>
          </p:cNvSpPr>
          <p:nvPr>
            <p:ph type="sldNum" sz="quarter" idx="12"/>
          </p:nvPr>
        </p:nvSpPr>
        <p:spPr/>
        <p:txBody>
          <a:bodyPr/>
          <a:lstStyle/>
          <a:p>
            <a:fld id="{38A635C9-4A98-4745-BD96-9D0E32025E69}" type="slidenum">
              <a:rPr lang="en-IN" smtClean="0"/>
              <a:t>6</a:t>
            </a:fld>
            <a:endParaRPr lang="en-IN" dirty="0"/>
          </a:p>
        </p:txBody>
      </p:sp>
      <p:sp>
        <p:nvSpPr>
          <p:cNvPr id="6" name="TextBox 5">
            <a:extLst>
              <a:ext uri="{FF2B5EF4-FFF2-40B4-BE49-F238E27FC236}">
                <a16:creationId xmlns:a16="http://schemas.microsoft.com/office/drawing/2014/main" id="{3AED7C94-DE5C-0CFD-441E-7B075C0A0C7E}"/>
              </a:ext>
            </a:extLst>
          </p:cNvPr>
          <p:cNvSpPr txBox="1"/>
          <p:nvPr/>
        </p:nvSpPr>
        <p:spPr>
          <a:xfrm>
            <a:off x="801666" y="1276906"/>
            <a:ext cx="10313668"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Production is highly concentrated. West Bengal, Uttar Pradesh, and Punjab are the top 3 states for total rice production from 1990-2015.</a:t>
            </a:r>
          </a:p>
        </p:txBody>
      </p:sp>
      <p:pic>
        <p:nvPicPr>
          <p:cNvPr id="8" name="Picture 7">
            <a:extLst>
              <a:ext uri="{FF2B5EF4-FFF2-40B4-BE49-F238E27FC236}">
                <a16:creationId xmlns:a16="http://schemas.microsoft.com/office/drawing/2014/main" id="{533473BF-1748-E03B-6AFA-6A251D5A8202}"/>
              </a:ext>
            </a:extLst>
          </p:cNvPr>
          <p:cNvPicPr>
            <a:picLocks noChangeAspect="1"/>
          </p:cNvPicPr>
          <p:nvPr/>
        </p:nvPicPr>
        <p:blipFill>
          <a:blip r:embed="rId3"/>
          <a:stretch>
            <a:fillRect/>
          </a:stretch>
        </p:blipFill>
        <p:spPr>
          <a:xfrm>
            <a:off x="2740759" y="2049784"/>
            <a:ext cx="6627061" cy="4278075"/>
          </a:xfrm>
          <a:prstGeom prst="rect">
            <a:avLst/>
          </a:prstGeom>
        </p:spPr>
      </p:pic>
    </p:spTree>
    <p:extLst>
      <p:ext uri="{BB962C8B-B14F-4D97-AF65-F5344CB8AC3E}">
        <p14:creationId xmlns:p14="http://schemas.microsoft.com/office/powerpoint/2010/main" val="671996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DA94A-DBEB-3887-F2A6-6DB1AEC72E3A}"/>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93157AD0-D546-3BF9-55B5-7FCA8A094FA2}"/>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954309B6-6FE1-551A-BEE9-7C3F32D28143}"/>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0FD678B2-1D9C-6D46-4311-C99E4913BDA4}"/>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FCE34E52-192F-DD66-84DE-1417D59B409B}"/>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B31F2D51-560B-CCDD-706E-83AAD1261A0F}"/>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41F805C7-6C46-4261-9B1C-94C603C34910}"/>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3BAFAA3A-D48B-64DA-E52E-BBBBEF873F2C}"/>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F427901D-1E19-DF76-1FF6-0E8F5117A0C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8C011DCF-FF16-2E94-36D6-E8A23FDD801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B703A2CE-6DCF-656F-53F4-1F70230AAE0B}"/>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D0EC144B-342B-FD84-B551-9EDD6EF4FCCC}"/>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1BC3D718-5836-23DB-28E7-CDD5164A5133}"/>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33A21E5-4276-6023-52B5-18E81E5A2E09}"/>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9F303310-AFE5-F2C2-9A2A-0535EEDD6EB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066BA633-D6F6-E34B-5BDF-F85617A3B69D}"/>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9A77E746-8579-EC69-B79A-06A2E4D536B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943DC3ED-3CC6-4170-0674-C293E13BBD5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9BAB4462-AC92-AADD-5012-C15B22D1D063}"/>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AC8B0D43-89AB-3420-FC44-EB40E9393D07}"/>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A0899CD4-18C4-BF38-23B0-EC2BDCF3D7DD}"/>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B0BDFCAA-C897-9786-C207-34EFEAD58E0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7F4E68F8-8AFA-619A-677C-A616E073880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D66FE1BD-545D-6EA7-8A50-A129072C7BE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568D5C67-50E2-7F82-5485-1E8D1CC8394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0C06E1A7-C981-8F31-9536-481C35D58EB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90464C21-5E4D-0EC6-863C-4E8013EAE676}"/>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74DE4645-E11E-AEB5-2551-EAF3A17B1F66}"/>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0AF874B1-5B68-5F4A-6EA5-3C7489FCD93F}"/>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1E983F1B-E23B-EE55-CD59-6AC92FF20A6B}"/>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BAD1F498-07C4-3B4A-4B88-3A98008BF82C}"/>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2157929A-EBE9-5ABF-0E92-3EC3DDA57224}"/>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E1302FA6-C48B-C275-D71C-B2DE7A0B9D4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26A37365-5E10-2288-7675-8FE5E9B3D41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039F0C28-A039-8003-CE7F-63716F2CB21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B9AB6557-7BE0-17C4-2C28-615D7BC059F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8D0618DC-AA42-C8BF-C6EF-E2D87C2C1E51}"/>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9B2A45A2-D52C-6113-6B0B-740CD42F64E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675B5D72-500E-1AA9-A6A0-0A74401A8072}"/>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02AD97CD-C20E-7051-6F69-01926192A7F3}"/>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436ED9EE-16AC-C208-3C26-1B0078D3E84C}"/>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1DE0CC1B-37EA-1CD7-69B4-161BF8DEABC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39A6C40F-DF45-D41B-301E-30BC97833BAD}"/>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74E2E3A2-399C-27E7-4707-60D10E7235A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4AD6D404-3311-E9DD-CBA8-162A40ACC66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F22FCFDA-54ED-2121-ACF7-DDDF67C24C37}"/>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9C73E762-370C-4551-96CB-14D5BD04D8D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4744975E-2FDA-DA34-D858-0988362BD774}"/>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2420F210-04A6-C02B-7676-4FD2600DA91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D1BEC1F1-4753-3DBA-0C86-2510A9D8D31B}"/>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55ADE8B1-70D5-2D0C-8066-E28ACA1E1D88}"/>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530D7202-A2FB-F000-26CD-4A367A4407A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D785FE35-33BC-A3A0-212B-1EDB450B7D4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0D5DFF9C-C473-18CA-10BF-CE66A71FFC6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251EABBC-0F48-5FB7-59BC-4E576A817449}"/>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54CD219A-6688-4CE3-A879-9820F33D7DC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C2080B39-5CAF-0220-92FA-5C39BFA7A67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9A3DD572-C2DC-1D74-A306-6201FCA40F5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5BA7619D-D55F-F070-1F86-61838BCFADA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FE9C9D89-B289-942A-F509-1A8DADED909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5BA3E8B5-320C-809C-C6EA-3EAA37D071A1}"/>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04D4E158-AE65-8A7D-76F9-83FBC9F4A7FF}"/>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67AEF9B2-505B-BC33-CDCB-DD64BB9542A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2633F7DC-AE40-6C25-D95C-08CAB886044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735D774B-BD28-20A1-2682-A2F71633CBE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207DC2D4-C830-FF37-D695-45B2BA94A41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1B356467-0340-CB12-108E-01F628516BC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58D5F845-B9BA-C4AC-4C45-26128257BAAC}"/>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5C023E66-8D88-B0C0-0265-EFE492DBD1F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A10E4F05-AF1B-9941-CCE9-7ED0FC0E2B2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C2550A7C-99BC-5ED3-9E53-764028C35D2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62C3352A-361D-4D27-6079-623C81575549}"/>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95C2F9C7-002A-B68C-593F-EDB4211C2985}"/>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82A077C5-5F61-B12B-2FB3-B9D1B1516657}"/>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E0C3C3E1-E085-0F90-52AA-D072C0217BED}"/>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852771DD-C52E-03B7-A47E-FEBC2EF7E598}"/>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The Yield vs. Production</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DAB964EE-95A7-B9FE-95A9-4C42A4FA25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5BBDF17D-A7EE-1D2A-8394-E82CE692949D}"/>
              </a:ext>
            </a:extLst>
          </p:cNvPr>
          <p:cNvSpPr>
            <a:spLocks noGrp="1"/>
          </p:cNvSpPr>
          <p:nvPr>
            <p:ph type="sldNum" sz="quarter" idx="12"/>
          </p:nvPr>
        </p:nvSpPr>
        <p:spPr/>
        <p:txBody>
          <a:bodyPr/>
          <a:lstStyle/>
          <a:p>
            <a:fld id="{38A635C9-4A98-4745-BD96-9D0E32025E69}" type="slidenum">
              <a:rPr lang="en-IN" smtClean="0"/>
              <a:t>7</a:t>
            </a:fld>
            <a:endParaRPr lang="en-IN" dirty="0"/>
          </a:p>
        </p:txBody>
      </p:sp>
      <p:sp>
        <p:nvSpPr>
          <p:cNvPr id="6" name="TextBox 5">
            <a:extLst>
              <a:ext uri="{FF2B5EF4-FFF2-40B4-BE49-F238E27FC236}">
                <a16:creationId xmlns:a16="http://schemas.microsoft.com/office/drawing/2014/main" id="{C237AC4F-C541-4FDC-3E76-073C60A61E90}"/>
              </a:ext>
            </a:extLst>
          </p:cNvPr>
          <p:cNvSpPr txBox="1"/>
          <p:nvPr/>
        </p:nvSpPr>
        <p:spPr>
          <a:xfrm>
            <a:off x="801666" y="1276906"/>
            <a:ext cx="10313668"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High production doesn't always mean high yield (efficiency). Punjab has a significantly higher and more rapidly increasing average yield (kg/ha) than other top producers like West Bengal or Orissa .</a:t>
            </a:r>
          </a:p>
        </p:txBody>
      </p:sp>
      <p:pic>
        <p:nvPicPr>
          <p:cNvPr id="4100" name="Picture 4">
            <a:extLst>
              <a:ext uri="{FF2B5EF4-FFF2-40B4-BE49-F238E27FC236}">
                <a16:creationId xmlns:a16="http://schemas.microsoft.com/office/drawing/2014/main" id="{C7997090-4437-88DB-5677-335E75530B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8926" y="2279086"/>
            <a:ext cx="5977458" cy="3967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565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85587-81AA-0618-9D8B-DB88452DE2AA}"/>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A3164B43-7E17-4636-01F3-8A35E01879C8}"/>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72FF27FD-4D0D-F05A-A559-A121CBD6A673}"/>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197E4655-9B2C-14AE-BA69-FFEA2AC4A0F2}"/>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2A1E23AD-FDCC-ADB5-12AE-23C58F772384}"/>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90AA619A-0B9A-7E5B-31B6-83C6CAD5EEE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6190DAB6-2A18-3830-F914-11C1FDD1BD2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A6AF8857-31B7-FC77-8A38-E786EDDBEBF6}"/>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3C21AA78-37C7-2AC1-41C1-0712464C407E}"/>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0ED24ABD-BA66-0C7B-200C-2D06C0677130}"/>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DB99D10-4200-A922-0280-FE4C5699C5D2}"/>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FB0EE6DA-D759-F625-3187-A474DA1723BD}"/>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621293C1-02FC-300E-BE18-B4F7F5EF628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9C6EFBD5-7368-9D1D-8F79-F200DE20BE81}"/>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CF4A59EE-EA43-8F59-A75C-E85FFD501CE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7A60672C-0CD0-0E31-7A49-5663BFF55B8F}"/>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75C0F0C9-10A2-0A0F-02C9-81D04430F447}"/>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8CDE2786-B93D-3C25-FE1B-F742A55BC216}"/>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E35E243A-D3A3-7ED8-6477-1CE6CD09523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EA1CB21E-596C-D3D7-FC11-B5570AA158B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52E5CEA7-40D4-1E18-3003-721D9EEBB3C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B498CBA0-13FC-8984-74CB-CC834E9D507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6312D76F-7C0E-1757-D7D9-7742DDAE054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1A8641D7-F69A-7839-9F71-F346C1E884DE}"/>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E3D2B7CE-3CC4-F30D-62D8-851A7C613829}"/>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11974980-1073-1109-0012-24D18B6E0E4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23BC6C62-3A28-7347-29CE-B8A7D9CEDA4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37C279D-08CC-311A-708F-534451A5D7B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61AE65EF-2A49-5271-EE33-54856BA9C0D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969CC9AD-4333-A655-9EB8-498F51D3E8B2}"/>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A1E0DA4D-265D-24AE-4125-7763CFB67A0C}"/>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1C452FE6-1408-6C83-B57F-89191BD3B9C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0E86FBA8-EFE0-4F35-5000-6920980D2500}"/>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F7014C68-8B25-7A38-18C5-25A07B73983E}"/>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A4AFF458-4F9B-F201-2D19-4847E616339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9CD7D273-6AB4-16E6-03CD-72B2BA5C4A06}"/>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88FB3416-D7FC-2D28-AD56-B93CE9DF573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88D2541D-FEDB-6552-8E09-956B018BD6FE}"/>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54DFAC18-A468-8DEA-D4A5-90E2AAB66C3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8C774DD4-46D5-3CE1-19F8-92CDE524755C}"/>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2A0D06E9-77F7-8C56-3DAE-C3300968359E}"/>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FDDCE0D7-3CDC-A462-8DF9-504CAC73350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534B9230-BDAD-4963-3845-CE60F0D52F9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52210054-6203-264B-0286-4CBAD04CAE2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6E59EE9C-B164-821C-3603-6B5F5728AB3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4F3C5A36-1068-27EE-1261-E45500EBE8E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49D76884-FD2E-6997-889F-36953D82582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0D5DF25D-06FC-37C3-D546-23A411B017D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CC40BE00-400F-46DA-E1F9-DC2150B69076}"/>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B7A2F4D0-9654-5669-FDAE-179BDFE4CEE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82D611CC-F2BE-F374-69FB-0C7C0A365121}"/>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25D892EB-BF2A-1774-A8C0-ED0C190400C6}"/>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C7910D89-5BA8-9B59-E1FE-A1FBCC9D63E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58052413-3397-4971-1F7E-CFD99488A3FF}"/>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B6C8ECBA-183F-9534-CFD6-6BEDC618F718}"/>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3967267C-3178-F267-7306-BE94D95428E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6AA67164-B309-5237-35A4-90A8379CD8A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D89E73DF-F732-957F-7C4F-2A62DD05CD4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44DCCEE6-4F2B-3DD5-6848-59CF5CB9693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564CE553-0388-1E88-C937-BC9FDAF53A3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BC9A2210-3E1A-C97B-5BFC-F4327EAED181}"/>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7341CCD1-41FF-A2B8-3BD9-A3018630F1AC}"/>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611E8C90-171A-FBE9-CA7B-D903D6407F7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601718DE-6D5A-DA4A-2894-E4E9975512D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5AF97731-F58D-F3C4-6999-1C37F609FA9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DEE91464-20F2-7C26-24CF-CD7734F7B02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73303CF4-4098-8442-673D-6D3991597EB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C1D654DD-8468-DFDE-7CDC-B17337EDC23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8A57BBCF-5A07-87CA-1989-F59F88EABE54}"/>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75D00FD3-BE24-D19D-9B2E-FA25E484E430}"/>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D345982B-0FD2-EF14-F4FC-A9493C3D20CA}"/>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EDEC3D2F-DD12-A07C-3975-279E405D1F58}"/>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7BD895A6-0A55-FBFE-48CF-81C0A699555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EA5FFB65-4B2F-6955-FFC0-E865624094B3}"/>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9C7E6CBC-B7A8-A803-48C7-F9DC993CE56F}"/>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9034E9BA-218F-7CC2-5EE4-C972E8172603}"/>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Predicting Rice Yield</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73970A6D-1B20-72D5-5186-1CE692F458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652C54DF-125D-04B7-9E49-FF12A47F5582}"/>
              </a:ext>
            </a:extLst>
          </p:cNvPr>
          <p:cNvSpPr>
            <a:spLocks noGrp="1"/>
          </p:cNvSpPr>
          <p:nvPr>
            <p:ph type="sldNum" sz="quarter" idx="12"/>
          </p:nvPr>
        </p:nvSpPr>
        <p:spPr/>
        <p:txBody>
          <a:bodyPr/>
          <a:lstStyle/>
          <a:p>
            <a:fld id="{38A635C9-4A98-4745-BD96-9D0E32025E69}" type="slidenum">
              <a:rPr lang="en-IN" smtClean="0"/>
              <a:t>8</a:t>
            </a:fld>
            <a:endParaRPr lang="en-IN" dirty="0"/>
          </a:p>
        </p:txBody>
      </p:sp>
      <p:sp>
        <p:nvSpPr>
          <p:cNvPr id="6" name="TextBox 5">
            <a:extLst>
              <a:ext uri="{FF2B5EF4-FFF2-40B4-BE49-F238E27FC236}">
                <a16:creationId xmlns:a16="http://schemas.microsoft.com/office/drawing/2014/main" id="{14F5F741-D3D0-EB20-2C9F-CCDEC5C2C371}"/>
              </a:ext>
            </a:extLst>
          </p:cNvPr>
          <p:cNvSpPr txBox="1"/>
          <p:nvPr/>
        </p:nvSpPr>
        <p:spPr>
          <a:xfrm>
            <a:off x="725461" y="1209942"/>
            <a:ext cx="10313668"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A simple model fails (Negative R-squared). After robust feature engineering and a time-based split (Train &lt; 2008, Test &gt;= 2008), an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model could explain 45% of the variance (R-squared = 0.45) in rice yield.</a:t>
            </a:r>
          </a:p>
        </p:txBody>
      </p:sp>
      <p:pic>
        <p:nvPicPr>
          <p:cNvPr id="5122" name="Picture 2">
            <a:extLst>
              <a:ext uri="{FF2B5EF4-FFF2-40B4-BE49-F238E27FC236}">
                <a16:creationId xmlns:a16="http://schemas.microsoft.com/office/drawing/2014/main" id="{B3A6B406-1FC9-6284-1658-8DA138A0D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242" y="1992436"/>
            <a:ext cx="6846858" cy="4294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610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0BC57-9FFF-194B-6B74-ACDFA429FD11}"/>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C64AAB2B-C877-8684-65EF-276E45B7EBA4}"/>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85F12C0B-6EBA-0B27-69D7-E7325125207D}"/>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25A9A2DF-53B3-4397-053F-EC9F09D3C58F}"/>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8554C042-5360-C00B-8285-6AFC9AB502A7}"/>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DD26DE64-C9B8-ECFA-E51B-7472BAF0211D}"/>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FB921E54-2506-BF5B-6825-97C73E01BCD7}"/>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B60811FB-A781-8EE9-5FEB-ECFC16F5BB0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D745D574-92A2-3AD3-C2FA-E4C70509AFD4}"/>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28D7E9B5-BC10-9771-76FF-A9FBBDDFB477}"/>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AE9E8393-7D6F-6DED-4D53-D4CF804FF97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70FAF8FC-94D2-89C6-D193-EA6077729C15}"/>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2A789143-A17B-44EA-4B8C-EDE396085A9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CAD7451E-5EEA-8768-C318-78F0C5C236D0}"/>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510D2E46-25BB-022F-49D4-C8C942832A75}"/>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329B79D2-7CCC-E6C3-E9C6-521B6A77165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3F785245-501E-ACC1-DCBA-6782CD0FEAA6}"/>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F89D1E5B-BB1F-9AE8-8EE6-B4E10DAD0F71}"/>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AE9C80AE-59D0-D2A9-2A7B-D82332E20E3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BAC343DE-E837-8942-2DFC-F1F01D77EA9E}"/>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A9FDB9E4-223D-BC36-1BE6-8B1E67615CB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99CBC510-5326-BBBA-5873-83B0279E3E2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700752EC-01F4-22FB-D617-B4147FAC1D0B}"/>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648D8360-5FFF-3DBA-59B3-F088F111414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0A35CF43-99E3-EF06-A1EA-972C9C190312}"/>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DA2D79CD-1412-4CCE-D865-61629B2B828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A2F685EF-D1DF-81F0-AFD8-3C62EE38B1B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A73DDC02-7E12-0C76-DD22-4EA9D9EA6E7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A5768107-3099-072A-7BBB-9461C0BC4A0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03947A4F-2A1F-8A05-D523-8792FCB4169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A565EFA0-2021-B770-FEA8-1C91CFA8F94C}"/>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EE3CD359-A3D2-786A-D094-8A683EC4966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92DD6BFA-A4B2-51A3-AB86-5248D3ECE7D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1B59AD86-64D5-04C7-EB22-A5CFCBAE7FD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A24325EF-A45B-269F-1B8F-FF2D81C8B0B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B2112A4A-D2E6-638A-BF8E-76FBA46D80E4}"/>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9CDF2056-AD77-DCE2-754A-9BB328055B9D}"/>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E4580519-8880-1CD6-F287-3E78FA850C3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2E8DF99C-3353-39CF-5830-46E82240FF9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63A64140-F616-9CD0-D6A1-FA0C5B5720B3}"/>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542C9C63-1E3B-30DC-57EB-1F9B3EE61407}"/>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3E9F0D6D-A5A9-B848-73DC-0F408AFA00C1}"/>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AA9DCEEA-4EDD-2022-7B08-B8517357202A}"/>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854D20C1-BE18-C793-857B-6F1BE4E52E47}"/>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B8E72E93-D16B-E8EF-AA1C-EA9A507B1D0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3724AB08-6C6A-118B-A32E-E11C2FDFEBF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C71AB717-21D5-2B2C-0457-4D66B8AA97DA}"/>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D348E364-102A-3D21-6184-51BE9FAEDF4D}"/>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B6A1CBF6-07A0-E075-9719-F98BBFB18DF2}"/>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0DA0A4D1-C36F-0BF5-A331-133C3715179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49676B19-17D5-CBC2-DD64-6B3DB37AC4A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E9FD4F3A-E677-FAF7-BF4F-27ADA30E9706}"/>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1342A174-31CF-D515-DC1A-5192978DCEF9}"/>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2EEB68BA-9380-06CA-282D-7640DBCD0249}"/>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2B3F3DDB-FF4C-A2A5-630D-76B9ED44175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27E8BE24-75C6-DDF6-E38E-2B6A0A96F98E}"/>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EB0D6A62-DE63-D3B7-3CF3-4BF22D76F9A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F26DF731-4A48-CC45-9AE8-01CC78D437D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FF1261CE-6ABF-8389-AD6C-5498E65DB16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8D1B24B6-AA1A-DEA8-4614-BD04FD362EDE}"/>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F4ECF491-4EEF-7F53-F1B9-1339277FA9E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FF6C0701-7C4F-E270-5B76-132895FF6E37}"/>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B32E5DAF-3B96-F3F6-02E6-E04FC65B666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80DD922E-1B78-B422-25F5-D60BDF20E2C3}"/>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FE94CC8-73B7-0F8A-9257-608F16C138C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52CCB065-F70F-EAEB-64F5-45B22BA5365F}"/>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804F0AB1-9002-5ECE-5A3D-8B1C2ADC34A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1E8D0473-9649-FFB0-5CB3-B5964BE8A877}"/>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F71387BC-7529-E92C-69AC-112FEBF6DF44}"/>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73F9908A-92F2-508E-FC30-1B7C72BA803E}"/>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E3DF19C4-9B9D-E19A-567B-2CA701D0C0D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0DBEB6E2-27E7-9F6A-1988-91D2C831E1B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FD2BDC9B-E697-BBD8-AD64-D5C347815498}"/>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BAF7FE7A-8D9F-934D-CB3D-FA655D15BD7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14BEA911-80E0-3851-0DC2-92E564291230}"/>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BACE677D-ACDE-3876-2B4C-E968EEF92DF5}"/>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Key Predictive Factors</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DDF08650-1645-EBFA-583E-CE02449442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A89E2DAA-B9B2-0A7E-CBC8-3B95DDDED2A9}"/>
              </a:ext>
            </a:extLst>
          </p:cNvPr>
          <p:cNvSpPr>
            <a:spLocks noGrp="1"/>
          </p:cNvSpPr>
          <p:nvPr>
            <p:ph type="sldNum" sz="quarter" idx="12"/>
          </p:nvPr>
        </p:nvSpPr>
        <p:spPr/>
        <p:txBody>
          <a:bodyPr/>
          <a:lstStyle/>
          <a:p>
            <a:fld id="{38A635C9-4A98-4745-BD96-9D0E32025E69}" type="slidenum">
              <a:rPr lang="en-IN" smtClean="0"/>
              <a:t>9</a:t>
            </a:fld>
            <a:endParaRPr lang="en-IN" dirty="0"/>
          </a:p>
        </p:txBody>
      </p:sp>
      <p:sp>
        <p:nvSpPr>
          <p:cNvPr id="6" name="TextBox 5">
            <a:extLst>
              <a:ext uri="{FF2B5EF4-FFF2-40B4-BE49-F238E27FC236}">
                <a16:creationId xmlns:a16="http://schemas.microsoft.com/office/drawing/2014/main" id="{63B5923E-CBD0-800A-94AD-D08AEA7A89BA}"/>
              </a:ext>
            </a:extLst>
          </p:cNvPr>
          <p:cNvSpPr txBox="1"/>
          <p:nvPr/>
        </p:nvSpPr>
        <p:spPr>
          <a:xfrm>
            <a:off x="655776" y="994281"/>
            <a:ext cx="10790804" cy="120032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most important factors for yield are different for different crops.</a:t>
            </a:r>
          </a:p>
          <a:p>
            <a:pPr algn="just"/>
            <a:r>
              <a:rPr lang="en-US" dirty="0">
                <a:latin typeface="Times New Roman" panose="02020603050405020304" pitchFamily="18" charset="0"/>
                <a:cs typeface="Times New Roman" panose="02020603050405020304" pitchFamily="18" charset="0"/>
              </a:rPr>
              <a:t>For Rice (Kharif Crop): 1. </a:t>
            </a:r>
            <a:r>
              <a:rPr lang="en-US" dirty="0" err="1">
                <a:latin typeface="Times New Roman" panose="02020603050405020304" pitchFamily="18" charset="0"/>
                <a:cs typeface="Times New Roman" panose="02020603050405020304" pitchFamily="18" charset="0"/>
              </a:rPr>
              <a:t>fertiliser_per_ha</a:t>
            </a: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irrigation_ratio</a:t>
            </a:r>
            <a:r>
              <a:rPr lang="en-US" dirty="0">
                <a:latin typeface="Times New Roman" panose="02020603050405020304" pitchFamily="18" charset="0"/>
                <a:cs typeface="Times New Roman" panose="02020603050405020304" pitchFamily="18" charset="0"/>
              </a:rPr>
              <a:t> 3. Summer Temperature</a:t>
            </a:r>
          </a:p>
          <a:p>
            <a:pPr algn="just"/>
            <a:r>
              <a:rPr lang="en-US" dirty="0">
                <a:latin typeface="Times New Roman" panose="02020603050405020304" pitchFamily="18" charset="0"/>
                <a:cs typeface="Times New Roman" panose="02020603050405020304" pitchFamily="18" charset="0"/>
              </a:rPr>
              <a:t>For Chickpea (Rabi Crop): 1. </a:t>
            </a:r>
            <a:r>
              <a:rPr lang="en-US" dirty="0" err="1">
                <a:latin typeface="Times New Roman" panose="02020603050405020304" pitchFamily="18" charset="0"/>
                <a:cs typeface="Times New Roman" panose="02020603050405020304" pitchFamily="18" charset="0"/>
              </a:rPr>
              <a:t>post_monsoon_rainfall_mm</a:t>
            </a:r>
            <a:r>
              <a:rPr lang="en-US" dirty="0">
                <a:latin typeface="Times New Roman" panose="02020603050405020304" pitchFamily="18" charset="0"/>
                <a:cs typeface="Times New Roman" panose="02020603050405020304" pitchFamily="18" charset="0"/>
              </a:rPr>
              <a:t> (Rain for planting)2. Winter Minimum Temperature 3. </a:t>
            </a:r>
            <a:r>
              <a:rPr lang="en-US" dirty="0" err="1">
                <a:latin typeface="Times New Roman" panose="02020603050405020304" pitchFamily="18" charset="0"/>
                <a:cs typeface="Times New Roman" panose="02020603050405020304" pitchFamily="18" charset="0"/>
              </a:rPr>
              <a:t>irrigation_ratio</a:t>
            </a:r>
            <a:endParaRPr lang="en-US" dirty="0">
              <a:latin typeface="Times New Roman" panose="02020603050405020304" pitchFamily="18" charset="0"/>
              <a:cs typeface="Times New Roman" panose="02020603050405020304" pitchFamily="18" charset="0"/>
            </a:endParaRPr>
          </a:p>
        </p:txBody>
      </p:sp>
      <p:pic>
        <p:nvPicPr>
          <p:cNvPr id="6147" name="Picture 3">
            <a:extLst>
              <a:ext uri="{FF2B5EF4-FFF2-40B4-BE49-F238E27FC236}">
                <a16:creationId xmlns:a16="http://schemas.microsoft.com/office/drawing/2014/main" id="{B8D6872C-E64A-A4DC-CB7D-89E6949F4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1178" y="2337478"/>
            <a:ext cx="5013658" cy="40049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4CFDC0C-859F-F740-5695-8827EAD43902}"/>
              </a:ext>
            </a:extLst>
          </p:cNvPr>
          <p:cNvPicPr>
            <a:picLocks noChangeAspect="1"/>
          </p:cNvPicPr>
          <p:nvPr/>
        </p:nvPicPr>
        <p:blipFill>
          <a:blip r:embed="rId4"/>
          <a:stretch>
            <a:fillRect/>
          </a:stretch>
        </p:blipFill>
        <p:spPr>
          <a:xfrm>
            <a:off x="512301" y="2377991"/>
            <a:ext cx="4963128" cy="3964480"/>
          </a:xfrm>
          <a:prstGeom prst="rect">
            <a:avLst/>
          </a:prstGeom>
        </p:spPr>
      </p:pic>
    </p:spTree>
    <p:extLst>
      <p:ext uri="{BB962C8B-B14F-4D97-AF65-F5344CB8AC3E}">
        <p14:creationId xmlns:p14="http://schemas.microsoft.com/office/powerpoint/2010/main" val="1894967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0102D-5F65-06EC-5B4C-F5B9AA05D46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C10F08E1-66EB-ACC1-5B22-D0E96F7634F6}"/>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45E8C5D9-C393-2FBB-F03F-9C1EF3991F92}"/>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F1AE36BA-F8F9-1BBB-235C-0D019DFF7D54}"/>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3B4B125C-C9EE-F74F-781A-5C5817F96D6A}"/>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218E30F9-AEC6-9870-3626-67EC52A8FA8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FDB53902-6C44-5DDA-5911-400C79DD3D9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A2796BC1-8388-EC85-3312-ABCAB9DDDE1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560FD016-B4E3-503A-D61A-E9C118B3167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169F42A7-FC14-F429-718F-13641C12D36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05EDCD0F-DE01-565C-922A-FD732F6F46B4}"/>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6AA123CB-02F5-72AE-2CF9-2403F2E092AD}"/>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C56DBEEF-204B-84ED-5F28-833075BDB6BE}"/>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897398F7-C289-21D2-04D1-905F44AC2C24}"/>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F347406A-6DD3-F770-D4F7-3A38BDCA371A}"/>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9856344-5C0A-469D-113F-04D00184A87A}"/>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17092BC8-1005-BB2D-3B92-35DC9DC9D0A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C3DCB38E-EAB4-5048-B49A-B792BB279FB9}"/>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53C3C5CC-A644-EBC3-C064-9954526DE448}"/>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7A651EC1-18B7-EB20-B046-3F2A7BF6475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A41E762F-70C3-7DCC-1EDD-33A23CC63506}"/>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A4F7A14D-88A4-AED8-F765-C22F135B061E}"/>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BA601BCD-E5B6-E945-4BBF-D8DE197B5A93}"/>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8ADE0F16-B51E-7B7A-AE57-47DE2241DE9D}"/>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AF80BBD8-201C-7E5D-D51D-5DD5E129284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EB77DC4B-4EB6-FA67-769D-C98131F7EC1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B78684BA-1B3B-AE38-261C-BAD1474C06A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44C02ED7-5251-E408-F21D-ECC32D9F799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1145150-7B93-5C91-0199-D32E207865EB}"/>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3537AEFC-2C35-9A7F-B9F1-82E9DA60DCD6}"/>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02B0B509-7E3A-3404-B95E-FD545BCBB83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195B2ECB-6806-C955-8C64-C5A9832738D3}"/>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0F5D8935-532E-BD17-4E98-C00B31BA80B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10B8E90B-45F1-2D5F-B6A1-37EE93387BFC}"/>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D94BACB7-9DBB-3E7B-C13B-DD48D2512E71}"/>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F6A3A9A5-1C1B-B3DD-FD03-11D6BB390A0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939E61F-07BE-7F63-7108-9ED7B7AE1DB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5ACB7BC5-CBDF-B5CC-3388-9D49BD223CBE}"/>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E97ACC59-3BAD-9D68-7848-A192B78D3B8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361FB42B-59B0-785D-2094-E8F2841AA6A9}"/>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9D18C26-3DBC-BD19-8949-CA155FCCA115}"/>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983A7858-F12C-1641-D4CA-45F98EFCE4D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8CDE9160-4D56-64D1-7016-DAF5984A7D3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3FFBAE11-4BFD-9969-5F66-2039976B594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4F9DD253-162F-2E33-FC8C-B6DE7D5D6635}"/>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88793A7E-63F8-B613-46AE-F0FD2773B70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38DFFDD5-8413-7A20-8021-79EA51E99C8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3814F1C2-D05C-C712-FC4A-6236FB2BE9B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064B841F-38F1-C83F-1B76-46AD2086AF9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AF854511-4631-833A-1DC7-A38194B01DC9}"/>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EC4C8EBC-B62B-5004-C0A3-534FA593E60A}"/>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A39C0798-8A63-EEB3-9009-97B8B80A38DA}"/>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6663067F-830B-92CB-D43B-20A8D3EA77DE}"/>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13A78968-60FD-C01C-FA1E-8D27CDF994E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695E1D5D-0FDC-3F6A-B521-492A8625038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2089141B-5E4B-DE9F-41F4-551A1637A6C8}"/>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6D16BCE9-F822-C1C4-D231-2B142C5B6B1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8F2071B4-43D6-7CF6-13E0-79F6981CD95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68F440DB-89CF-4B0B-81D3-50EB97268B7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C24E27D6-5C9F-184F-7FE3-6D34858732B6}"/>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D7569B6D-22DF-BFAB-A294-ECB3D37196C9}"/>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07C2CB73-8F55-1958-A503-5D084EE63997}"/>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ED669B94-DD45-6E69-E537-95782C00F41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3DF42151-E5C7-6082-9A1F-E18B9061754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B7665424-9132-F36A-1A8A-5C327057D06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6C0C0804-766B-005F-D5D4-28686845AC43}"/>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836849D0-82C2-2B28-AC89-1FAFC641CE27}"/>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55CAF7E5-0DCD-875E-9BFB-CDF67F14707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6E8A75CB-B469-2578-EF6B-5AC1FA0D0C9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C526EA7C-3A02-26DE-CCCC-0E15759762D6}"/>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6C54AB2B-6806-3974-13FF-776A2554DE31}"/>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A0A49EB2-C7CD-C9C9-7F2C-2D489C18AC7C}"/>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7E8C7AA8-165E-F46C-2D87-0C721A9AEF8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A4FB1E8C-BA14-A6E8-2CC3-12B21935FB5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DDE1DC6F-26E5-1A80-CB26-0BA0201E036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27AF8D67-B7E0-2237-EF58-8E8EE78ABE19}"/>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Predicting Crop Specialization</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80F9AB4-821E-C192-BA68-D75A309711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6BC101F5-40E3-C849-FAF3-E03DA651AC9D}"/>
              </a:ext>
            </a:extLst>
          </p:cNvPr>
          <p:cNvSpPr>
            <a:spLocks noGrp="1"/>
          </p:cNvSpPr>
          <p:nvPr>
            <p:ph type="sldNum" sz="quarter" idx="12"/>
          </p:nvPr>
        </p:nvSpPr>
        <p:spPr/>
        <p:txBody>
          <a:bodyPr/>
          <a:lstStyle/>
          <a:p>
            <a:fld id="{38A635C9-4A98-4745-BD96-9D0E32025E69}" type="slidenum">
              <a:rPr lang="en-IN" smtClean="0"/>
              <a:t>10</a:t>
            </a:fld>
            <a:endParaRPr lang="en-IN" dirty="0"/>
          </a:p>
        </p:txBody>
      </p:sp>
      <p:sp>
        <p:nvSpPr>
          <p:cNvPr id="6" name="TextBox 5">
            <a:extLst>
              <a:ext uri="{FF2B5EF4-FFF2-40B4-BE49-F238E27FC236}">
                <a16:creationId xmlns:a16="http://schemas.microsoft.com/office/drawing/2014/main" id="{A0F356F5-CBCB-5112-6EE9-B5F2233731BB}"/>
              </a:ext>
            </a:extLst>
          </p:cNvPr>
          <p:cNvSpPr txBox="1"/>
          <p:nvPr/>
        </p:nvSpPr>
        <p:spPr>
          <a:xfrm>
            <a:off x="655776" y="994281"/>
            <a:ext cx="10790804"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We can predict a district's dominant crop (e.g., Rice, Millet) with </a:t>
            </a:r>
            <a:r>
              <a:rPr lang="en-US" b="1" dirty="0">
                <a:latin typeface="Times New Roman" panose="02020603050405020304" pitchFamily="18" charset="0"/>
                <a:cs typeface="Times New Roman" panose="02020603050405020304" pitchFamily="18" charset="0"/>
              </a:rPr>
              <a:t>88% accuracy</a:t>
            </a:r>
            <a:r>
              <a:rPr lang="en-US" dirty="0">
                <a:latin typeface="Times New Roman" panose="02020603050405020304" pitchFamily="18" charset="0"/>
                <a:cs typeface="Times New Roman" panose="02020603050405020304" pitchFamily="18" charset="0"/>
              </a:rPr>
              <a:t> using a Random Forest model.</a:t>
            </a:r>
          </a:p>
          <a:p>
            <a:r>
              <a:rPr lang="en-US" b="1" dirty="0">
                <a:latin typeface="Times New Roman" panose="02020603050405020304" pitchFamily="18" charset="0"/>
                <a:cs typeface="Times New Roman" panose="02020603050405020304" pitchFamily="18" charset="0"/>
              </a:rPr>
              <a:t>Key Insight:</a:t>
            </a:r>
            <a:r>
              <a:rPr lang="en-US" dirty="0">
                <a:latin typeface="Times New Roman" panose="02020603050405020304" pitchFamily="18" charset="0"/>
                <a:cs typeface="Times New Roman" panose="02020603050405020304" pitchFamily="18" charset="0"/>
              </a:rPr>
              <a:t> Climate is the main driver. Seasonal rainfall and temperature were the most important predictive features.</a:t>
            </a:r>
          </a:p>
        </p:txBody>
      </p:sp>
      <p:pic>
        <p:nvPicPr>
          <p:cNvPr id="3" name="Picture 2">
            <a:extLst>
              <a:ext uri="{FF2B5EF4-FFF2-40B4-BE49-F238E27FC236}">
                <a16:creationId xmlns:a16="http://schemas.microsoft.com/office/drawing/2014/main" id="{8EBA29F4-BD84-5DF5-6147-EAD7F61AF8C7}"/>
              </a:ext>
            </a:extLst>
          </p:cNvPr>
          <p:cNvPicPr>
            <a:picLocks noChangeAspect="1"/>
          </p:cNvPicPr>
          <p:nvPr/>
        </p:nvPicPr>
        <p:blipFill>
          <a:blip r:embed="rId3"/>
          <a:stretch>
            <a:fillRect/>
          </a:stretch>
        </p:blipFill>
        <p:spPr>
          <a:xfrm>
            <a:off x="1910851" y="1952146"/>
            <a:ext cx="8280653" cy="4408360"/>
          </a:xfrm>
          <a:prstGeom prst="rect">
            <a:avLst/>
          </a:prstGeom>
        </p:spPr>
      </p:pic>
    </p:spTree>
    <p:extLst>
      <p:ext uri="{BB962C8B-B14F-4D97-AF65-F5344CB8AC3E}">
        <p14:creationId xmlns:p14="http://schemas.microsoft.com/office/powerpoint/2010/main" val="2740295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F506B-A6B0-8353-A7B3-E00F82E496D2}"/>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E79184C-AABE-23CF-88DC-812B1FCC34BE}"/>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FCE2D528-9DAB-4C96-66B6-44439ECA4A83}"/>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7653FA2-78E1-05CC-E4C1-D0F24B764F59}"/>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170B6DA-A32F-DC6E-42B2-A778A4FAA3AE}"/>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F9B9C54F-F14E-EBAC-0CB0-E202A43C4C6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B6A617AD-94CB-A941-895C-8A2A10600E0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857891BB-E2E6-2D55-A44F-A6C8DE4A4397}"/>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0E9749C-96A1-2A8D-179D-722E752895D4}"/>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4EC3949B-7F9C-39E3-EFD5-4FAE262C0855}"/>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902D262C-D04D-A2F4-6374-21BA61F665E2}"/>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28FB975C-F24F-A340-E851-458CD1EEB3B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0E1DF9DB-FA7B-A2C1-1235-CE0E21394513}"/>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13B01A33-4458-5FFA-0DB0-051839F198A1}"/>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358F0F09-087F-97E7-4A72-81AD8477046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888B8EE1-39A6-B005-7C5F-DACF122CDEC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B0CF7295-AAF6-5362-C680-5064D9C50BAD}"/>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C62D10AB-8494-6991-AD07-038A93FD47AD}"/>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932D891B-9D63-438F-E343-CB86760A3129}"/>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09625681-933B-E764-409D-029463F61E1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28C606C5-8D8A-0A70-EC1A-7F49497C76F4}"/>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0A6AA6DF-0421-1C4D-3B4C-1CA9BCD5D75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25C505E6-6578-7B1D-A0A6-AAE01718AD8E}"/>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C2B150BC-81B8-12B1-257A-89E3EFDA96A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B2F5B131-EB83-6F96-E6F2-31635A3DD02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460EBF05-0851-BEC8-D029-411FC88B716F}"/>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95D420DC-6A3A-85B4-7D65-8AF32C42B6B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7A9C7B62-948D-F5DB-98A0-1C4D0FD6ADEE}"/>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313B2432-C6A8-6E1E-EFB3-130622F9EE48}"/>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17E65E19-25A2-4ED8-9EE0-8EF29CBEF3A5}"/>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ADB92D7F-57A4-A505-DEDA-B47FA76A130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2AF0DF86-C431-F4E5-28C1-465919A0C69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078786D5-14CA-FECA-113C-3A1374A8773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4307F13F-66A1-F6BE-48DE-86943401BE71}"/>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5D00B66-84F8-A5E6-2255-F5631CBD7C3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CED236CD-CEEB-4F77-23B8-B9A6EB53FDA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DB8093D4-DACB-CF38-80D4-C7D087C48088}"/>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B5D29D55-F35B-3A97-D4E8-DE8EF2D1F28D}"/>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4A39B2AD-4180-38C6-702A-FBA357F48E5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CE39852E-27F8-227E-A7BC-72E57DCA5679}"/>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68A8FA0F-906C-1D1A-2820-8F904D8E601B}"/>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AA93337B-1E5C-435B-6277-7D4D7444A0F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C5CDBFC9-F034-7E15-C454-7BFB7EC79F2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1334D667-F742-7BB6-A1DA-28E2FC8D9EF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3612695C-CC35-436E-F5DB-DC0B7678EB49}"/>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B6E05A39-8E19-D6D2-1536-38824050C3C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78191833-E985-7ADE-5F0A-AB2F1B11A275}"/>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764B25AB-895B-0CB0-9F9C-DA3B29B9AFBA}"/>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771CBD45-656E-103B-6251-EB632170F94C}"/>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C1FF7C08-5FA6-D3E3-39A5-5011A2D0BC46}"/>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8BD4A417-5661-4811-516F-42491ECFA806}"/>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48FE1F08-2406-20F4-F8EE-AD29DED0855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80DB6AC7-D43D-2E36-22A3-C86029DF7969}"/>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282F9B18-66CB-3C6F-1EE5-13FAD731A3D2}"/>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709CD8ED-CEE9-E793-A5A6-A4F600944E0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0367DF73-D041-F13E-7EC3-7CB8B47A339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CE2C925F-E79B-804F-59F8-C18CB4B2750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DF54911A-66E1-5915-FCCD-F4D814CECC86}"/>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F38FD639-5C7D-EF5D-F85A-C1247EF5F047}"/>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4A5F09BC-F6C8-C006-6BE1-6DF5014C174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1176056E-BA4F-ED3A-7E9F-BF11D4B35801}"/>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A487DFC4-DCAB-906E-BE4B-045761CB1A0D}"/>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1DCAE201-9547-7601-1989-531CBC2073A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24317630-752B-6A61-E8A7-8F9EC7384DC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6305AAD4-612F-B327-6526-61C0F05B08D8}"/>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9450F746-76C4-9367-C43E-C18573F1542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93FE7CD1-2BBD-2D45-DF0E-9D4E430B063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D2D4E2AA-A0C5-5787-3BBD-8AD283F69057}"/>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21179AF1-9BF9-0FAD-1897-F4B4370388B3}"/>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FDBB17EE-6DE3-A3C4-857D-9603B16BBDEC}"/>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3559FA7D-C8B5-C6CE-9386-B655B227F5A3}"/>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C3F406F2-9F00-6023-F436-E7F49E40F76D}"/>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87E817D8-4C6D-D184-B32A-CB39E9BCFB1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B9573C19-88D4-EA12-3996-08142BE17C70}"/>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0B7CD7D3-E77D-A3A1-A94E-2A89BB2773A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EE6139DB-7482-43EF-C07F-D47F1695ECA1}"/>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Unsupervised Learning: District Profiles</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D88BD3D2-0670-D9BA-B116-1C345DCD42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23163478-5A41-1BAE-1902-DF96FACDFCD9}"/>
              </a:ext>
            </a:extLst>
          </p:cNvPr>
          <p:cNvSpPr>
            <a:spLocks noGrp="1"/>
          </p:cNvSpPr>
          <p:nvPr>
            <p:ph type="sldNum" sz="quarter" idx="12"/>
          </p:nvPr>
        </p:nvSpPr>
        <p:spPr/>
        <p:txBody>
          <a:bodyPr/>
          <a:lstStyle/>
          <a:p>
            <a:fld id="{38A635C9-4A98-4745-BD96-9D0E32025E69}" type="slidenum">
              <a:rPr lang="en-IN" smtClean="0"/>
              <a:t>11</a:t>
            </a:fld>
            <a:endParaRPr lang="en-IN" dirty="0"/>
          </a:p>
        </p:txBody>
      </p:sp>
      <p:sp>
        <p:nvSpPr>
          <p:cNvPr id="6" name="TextBox 5">
            <a:extLst>
              <a:ext uri="{FF2B5EF4-FFF2-40B4-BE49-F238E27FC236}">
                <a16:creationId xmlns:a16="http://schemas.microsoft.com/office/drawing/2014/main" id="{69B8EDFF-77FC-E04E-324C-0048113CE1A4}"/>
              </a:ext>
            </a:extLst>
          </p:cNvPr>
          <p:cNvSpPr txBox="1"/>
          <p:nvPr/>
        </p:nvSpPr>
        <p:spPr>
          <a:xfrm>
            <a:off x="655776" y="994281"/>
            <a:ext cx="10790804"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K-Means clustering identified </a:t>
            </a:r>
            <a:r>
              <a:rPr lang="en-US" b="1" dirty="0">
                <a:latin typeface="Times New Roman" panose="02020603050405020304" pitchFamily="18" charset="0"/>
                <a:cs typeface="Times New Roman" panose="02020603050405020304" pitchFamily="18" charset="0"/>
              </a:rPr>
              <a:t>5 distinct agricultural profiles</a:t>
            </a:r>
            <a:r>
              <a:rPr lang="en-US" dirty="0">
                <a:latin typeface="Times New Roman" panose="02020603050405020304" pitchFamily="18" charset="0"/>
                <a:cs typeface="Times New Roman" panose="02020603050405020304" pitchFamily="18" charset="0"/>
              </a:rPr>
              <a:t> based on district-level averages.</a:t>
            </a:r>
          </a:p>
          <a:p>
            <a:r>
              <a:rPr lang="en-US" b="1" dirty="0">
                <a:latin typeface="Times New Roman" panose="02020603050405020304" pitchFamily="18" charset="0"/>
                <a:cs typeface="Times New Roman" panose="02020603050405020304" pitchFamily="18" charset="0"/>
              </a:rPr>
              <a:t>Example Profile:</a:t>
            </a:r>
            <a:r>
              <a:rPr lang="en-US" dirty="0">
                <a:latin typeface="Times New Roman" panose="02020603050405020304" pitchFamily="18" charset="0"/>
                <a:cs typeface="Times New Roman" panose="02020603050405020304" pitchFamily="18" charset="0"/>
              </a:rPr>
              <a:t> Cluster 4 represents a "High-Input" zone, with the highest average irrigation (0.77) and fertilizer (0.19) use.</a:t>
            </a:r>
          </a:p>
        </p:txBody>
      </p:sp>
      <p:pic>
        <p:nvPicPr>
          <p:cNvPr id="7189" name="Picture 21">
            <a:extLst>
              <a:ext uri="{FF2B5EF4-FFF2-40B4-BE49-F238E27FC236}">
                <a16:creationId xmlns:a16="http://schemas.microsoft.com/office/drawing/2014/main" id="{19AD16D5-7334-87E9-A365-EC84CB61A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434" y="2100327"/>
            <a:ext cx="5582369" cy="370453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BB833715-4DEA-6C9A-5233-CF2E7F45DA20}"/>
              </a:ext>
            </a:extLst>
          </p:cNvPr>
          <p:cNvPicPr>
            <a:picLocks noChangeAspect="1"/>
          </p:cNvPicPr>
          <p:nvPr/>
        </p:nvPicPr>
        <p:blipFill>
          <a:blip r:embed="rId4"/>
          <a:stretch>
            <a:fillRect/>
          </a:stretch>
        </p:blipFill>
        <p:spPr>
          <a:xfrm>
            <a:off x="6198814" y="2266260"/>
            <a:ext cx="5717127" cy="3393091"/>
          </a:xfrm>
          <a:prstGeom prst="rect">
            <a:avLst/>
          </a:prstGeom>
        </p:spPr>
      </p:pic>
    </p:spTree>
    <p:extLst>
      <p:ext uri="{BB962C8B-B14F-4D97-AF65-F5344CB8AC3E}">
        <p14:creationId xmlns:p14="http://schemas.microsoft.com/office/powerpoint/2010/main" val="24438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837AF-D9D8-2C9E-2E45-64BDCDB332E4}"/>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EDFCAD14-F66E-595D-2DF9-477752087D8E}"/>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5849F163-F702-84A3-37D3-5E2364CE3275}"/>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B785871A-9C99-BEFC-4D82-5D3164A2CD8A}"/>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440C8066-4B4D-E96E-BA9C-C0E31076376C}"/>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115FD453-E924-23EC-C529-0E597AB67A6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5D5D8529-FBD8-4E79-A970-FD66D920A91A}"/>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A3317C27-ACA6-80DA-0797-7E4E0DBA287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A5F0EB93-D963-0C2F-E347-AA1A8A72F207}"/>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0DB3230E-990C-F826-9DAB-7BA1982F3332}"/>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4823892C-4DD8-935C-427F-B3CEF4ABDA3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DF5442B3-473E-C802-C6F0-618AD6A3FF1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3CD6989F-1DD6-94A0-411E-A6E58363128C}"/>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8DB056F2-936C-35AC-4FEB-D5AA0304DCE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B8D583BB-46AE-711B-7298-FF708239288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1C72589F-A477-19C7-FAF6-80756E1EF97F}"/>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DAA85240-D98C-5732-72A6-7D4BDF31FFF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BD20D33C-AF8F-7940-AFB1-AAF86572FDC0}"/>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2734B300-6F8E-8874-8959-A55A4C792CF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FFC63129-0DB3-BB24-2ED0-4C12F37574C8}"/>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A57B41A4-41C8-FE51-025F-DC5E7858C3E6}"/>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FE5F8D77-0BB9-07ED-5500-3BF0C8FCF983}"/>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FE58D3E7-1CF3-C77A-4D2F-52857CF1AE2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26D1CF5E-9D41-A403-BF2E-DABC8002C24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3D2FB50D-9D4F-9F0C-DB6B-6A3504AF5002}"/>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45807EEC-C541-19FA-7C22-FF570CEA3FCC}"/>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AA09DC50-CCCF-BD05-6D26-99A726CAC86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479A74FC-75AB-A2F8-7B05-32EC3F6E390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486E8E85-5E9F-48CF-D9C3-593B65C4FBE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6F9FD50E-9284-4654-A23B-BAA71D643BB9}"/>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F10FD9FD-EFCE-71F4-8C7A-6F97DE8DF37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2180CC2-45B3-1FCF-DB12-8DEA0B2EDBB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5A7F46D7-4876-FAEE-7B48-63CF8A8084E2}"/>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62FF3C4D-8E66-9603-B772-90609260154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EBD23DBB-D0F5-4092-24A7-5DF01A3B836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77DCC519-D917-E565-230B-D13ED2AA09BC}"/>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90CDC4AD-2CE1-D1C8-6BE6-F102ABB34C1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8F87C75F-ACAD-F6B3-419F-A22CE7DC796E}"/>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6FFE1F84-DEB8-8096-C3E6-BFEFAFB34F9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FDB37743-654E-9228-1283-629325B37D93}"/>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F1257855-4123-2C52-078B-3B8D0CA229C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96E048D2-1D1C-055B-1875-ECADAB1A988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A2FDC926-CCB9-F071-9ECD-05409FC6838D}"/>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DC80B7BE-2CE5-31F4-A3BA-C8F2AE82D118}"/>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F47DCA38-BB9D-BCF1-9ACA-3AD04000D767}"/>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E4A073B1-0D16-9F31-8484-BC8291B3CAA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4B3882E5-8792-CA3A-E35B-94E843630EC2}"/>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305875CE-73A4-D32B-63D3-0A4B908A9CC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AD88B9F4-F396-AAE9-42EC-44A9A575DC7C}"/>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F7CAB21E-8E43-825D-3521-400CBCF528F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4DCF7B35-8B7B-8EF8-E81B-B3BA3432C28F}"/>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2431130B-12F2-67F9-5BE0-B668033E3FCF}"/>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7EF9CC1E-EE2A-3528-2876-9D9C7DD2120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0441220E-F6B6-84C8-A88F-C45BDB3BC484}"/>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A9303DFF-ABEC-6B93-51D2-BBB035AB23D4}"/>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ED6103DD-52CC-4422-FFE6-3F34DE90402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04BDC6C6-7DB7-31D9-C250-7FBDD5A1918E}"/>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9ECB5A00-72F3-1DD0-42A2-258C56A6E407}"/>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080DA0A-A6C1-619D-F8AE-D5AA78A8DB13}"/>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6E4DA510-C1D6-06E1-8E57-F92FFF06AC9D}"/>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91CE7A62-97E5-1DB9-E681-202A3E300B3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D71F1078-36EE-55DE-B238-1F692766279F}"/>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DB57A362-54F8-0947-6D06-8761CEFEC4D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50F69AF6-66F6-B66E-CD82-FD7528FF169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3FE37E91-E61B-879B-DA17-6DBF4D7F473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185AEF51-7ADD-D94C-824D-6A94ACEF426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8FF34271-A069-28BA-3C8E-777153CA829D}"/>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D29D2A4C-D7DA-ECE5-008D-5F1DB3DF2633}"/>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4471E7FB-B2A5-4073-48D6-4EF7432F5C6B}"/>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D31B2F3C-47CF-C482-EFB5-22A5C899D2D7}"/>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8AA7E3B1-EEE3-F78A-B52B-CB93D448E2B1}"/>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DC8773AC-7E12-5726-9813-A0B9DF0CBA7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C34AA3A0-5A5B-241C-5C69-10E8F6B49FE9}"/>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C20F05DD-2A8E-2DEC-89DB-57B7B85823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CF704133-28BA-4CAB-F10F-BE63B5C3F85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49454341-FB80-14F3-603E-D5E7C984282E}"/>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Classification Challenges</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CC344A4B-9AE0-8628-86A6-BDEFEC631B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EBB4BF71-3205-BCD4-D6AF-DA1CFC8AB9E3}"/>
              </a:ext>
            </a:extLst>
          </p:cNvPr>
          <p:cNvSpPr>
            <a:spLocks noGrp="1"/>
          </p:cNvSpPr>
          <p:nvPr>
            <p:ph type="sldNum" sz="quarter" idx="12"/>
          </p:nvPr>
        </p:nvSpPr>
        <p:spPr/>
        <p:txBody>
          <a:bodyPr/>
          <a:lstStyle/>
          <a:p>
            <a:fld id="{38A635C9-4A98-4745-BD96-9D0E32025E69}" type="slidenum">
              <a:rPr lang="en-IN" smtClean="0"/>
              <a:t>12</a:t>
            </a:fld>
            <a:endParaRPr lang="en-IN" dirty="0"/>
          </a:p>
        </p:txBody>
      </p:sp>
      <p:sp>
        <p:nvSpPr>
          <p:cNvPr id="6" name="TextBox 5">
            <a:extLst>
              <a:ext uri="{FF2B5EF4-FFF2-40B4-BE49-F238E27FC236}">
                <a16:creationId xmlns:a16="http://schemas.microsoft.com/office/drawing/2014/main" id="{7D6738D3-836F-59BE-CD4C-D51A180C649F}"/>
              </a:ext>
            </a:extLst>
          </p:cNvPr>
          <p:cNvSpPr txBox="1"/>
          <p:nvPr/>
        </p:nvSpPr>
        <p:spPr>
          <a:xfrm>
            <a:off x="655776" y="994281"/>
            <a:ext cx="10790804"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Productivity Tiers: Classifying districts as 'Low', 'Medium', or 'High' yield proved challenging (66% accuracy). A PCA plot shows the classes are heavily overlapped. </a:t>
            </a:r>
          </a:p>
          <a:p>
            <a:r>
              <a:rPr lang="en-US" dirty="0">
                <a:latin typeface="Times New Roman" panose="02020603050405020304" pitchFamily="18" charset="0"/>
                <a:cs typeface="Times New Roman" panose="02020603050405020304" pitchFamily="18" charset="0"/>
              </a:rPr>
              <a:t>Harvest Failure: Predicting a "failure" event (yield &lt; 20th percentile) was moderately successful (0.72 ROC AUC) but had very low recall (3%), meaning it missed most failures. </a:t>
            </a:r>
          </a:p>
        </p:txBody>
      </p:sp>
      <p:pic>
        <p:nvPicPr>
          <p:cNvPr id="11" name="Picture 10">
            <a:extLst>
              <a:ext uri="{FF2B5EF4-FFF2-40B4-BE49-F238E27FC236}">
                <a16:creationId xmlns:a16="http://schemas.microsoft.com/office/drawing/2014/main" id="{3DC270FB-288C-ECC6-6741-F0D646137186}"/>
              </a:ext>
            </a:extLst>
          </p:cNvPr>
          <p:cNvPicPr>
            <a:picLocks noChangeAspect="1"/>
          </p:cNvPicPr>
          <p:nvPr/>
        </p:nvPicPr>
        <p:blipFill>
          <a:blip r:embed="rId3"/>
          <a:stretch>
            <a:fillRect/>
          </a:stretch>
        </p:blipFill>
        <p:spPr>
          <a:xfrm>
            <a:off x="1107705" y="2205672"/>
            <a:ext cx="4878469" cy="4059583"/>
          </a:xfrm>
          <a:prstGeom prst="rect">
            <a:avLst/>
          </a:prstGeom>
        </p:spPr>
      </p:pic>
      <p:pic>
        <p:nvPicPr>
          <p:cNvPr id="12" name="Picture 11">
            <a:extLst>
              <a:ext uri="{FF2B5EF4-FFF2-40B4-BE49-F238E27FC236}">
                <a16:creationId xmlns:a16="http://schemas.microsoft.com/office/drawing/2014/main" id="{F26BEC54-33C8-A879-E0BC-27BD937FE3FE}"/>
              </a:ext>
            </a:extLst>
          </p:cNvPr>
          <p:cNvPicPr>
            <a:picLocks noChangeAspect="1"/>
          </p:cNvPicPr>
          <p:nvPr/>
        </p:nvPicPr>
        <p:blipFill>
          <a:blip r:embed="rId4"/>
          <a:stretch>
            <a:fillRect/>
          </a:stretch>
        </p:blipFill>
        <p:spPr>
          <a:xfrm>
            <a:off x="6295844" y="2289717"/>
            <a:ext cx="5047219" cy="3998160"/>
          </a:xfrm>
          <a:prstGeom prst="rect">
            <a:avLst/>
          </a:prstGeom>
        </p:spPr>
      </p:pic>
    </p:spTree>
    <p:extLst>
      <p:ext uri="{BB962C8B-B14F-4D97-AF65-F5344CB8AC3E}">
        <p14:creationId xmlns:p14="http://schemas.microsoft.com/office/powerpoint/2010/main" val="3589136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8FE33-3B43-E780-10E2-0E084E2DA013}"/>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54195E2F-C352-8033-56E7-1B3844D15335}"/>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770DBE1-76F3-EF57-8F35-F85171046508}"/>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EECB01C1-BCE9-8326-D47F-37320AD14040}"/>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D45422B3-204F-6020-F97F-2046C2208985}"/>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C5C57786-C624-6D5B-5D8D-FE3791D0011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AA160751-2115-F673-8C0D-F83AF894062F}"/>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0F97794D-463E-1941-D4A8-F731F18BF634}"/>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FCE71DC7-905D-DD16-F482-EEF72336251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06E715C8-86F7-4989-7841-0F5AF70FF49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DB0ECDFF-05A7-C6B0-5D23-9CFE8D128F6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8F876119-DB7A-82C7-F0E2-11D6D726C1EF}"/>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8ED7608A-2615-EAE9-81B1-4F7273BE699E}"/>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972DADD6-253A-5416-C8B3-D9B433A108EE}"/>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5430137D-4C59-6001-4CCE-D863201938C0}"/>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79C49C36-0047-5792-07B9-E21326E1DBD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CC0176E1-56D0-3258-9DE3-DD89A555878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6D0B2C94-7BB2-C890-F480-F1A1DCF79E0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2DAE6AAE-C439-7F72-BF96-1D8694AC007E}"/>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48BB35F2-9AB8-A9E9-F0A7-58CC5B1C0AF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CC5D8D02-30CB-05A1-0675-34C7719EC44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31027F54-C7D0-37C1-1417-7A5922C00BA5}"/>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0D1C32C6-D7A2-D23C-01BD-5BD07F5CCECB}"/>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11D8A482-EAC4-D70C-0D04-904B69CCA88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E8B39514-5241-B61D-0FA0-657D06BA3203}"/>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B7BA4DDD-24B9-B12E-BBD8-255FD0D3D2B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BCE3980C-59C1-737A-473D-E01A3329508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76767260-EF38-E483-7926-256A1621FD5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93BD33A4-C180-E781-EC6A-C6A84A951C24}"/>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2653C85F-921F-B296-85CB-599232AB02D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0F06543-8A49-851F-3740-2AC0D974154B}"/>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29A039A1-1FD4-C870-44F8-C11E82288653}"/>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91721706-C221-373F-0195-A297F0B6CCB3}"/>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36D66E9F-857F-7727-704A-432762CBEC97}"/>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8250D893-A7B5-64EB-0F58-408993F326C5}"/>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3860E361-DFCA-A3D4-0D47-5DB9A1BFD22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B5B07D49-C9CD-B0D8-6131-2433941FB7CB}"/>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CD695668-1E20-E3AB-3EFB-67769532DB39}"/>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FA66C341-F3B3-853E-C4DA-1E14E95FEEA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9790EBF1-F39E-9FBA-89A0-4E0C04289A32}"/>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2ED0291-8AF5-4E6F-771A-87C231BC0135}"/>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402E02AE-7A28-C177-1217-02AEECC8781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5C8DB812-8518-5027-0277-C0706EC3CA91}"/>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20248EFF-FDEC-2220-945F-E1112C220C0D}"/>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75CC526D-63EA-A937-4B04-EE5E70A68DD2}"/>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8184D304-DFFA-9E3D-6DDC-7A0086DD86CE}"/>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B4DE1A42-BD68-7D01-9168-4386D4CDD72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96F9F4A6-240D-4F3D-923F-D38D3D1FE5D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2C616946-7794-63E6-2F29-1C51384CB78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0778930A-2B1B-4941-1C0C-2836E4E2936E}"/>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3875900F-D054-3E6A-C580-A212740E0540}"/>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33F78CDD-4360-27EE-A863-BE9087961918}"/>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60029FA9-20E0-51D4-0F49-F2807A22C81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31DE3742-4B35-A903-9B2B-519B56E1A69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D626E52B-A6AE-09ED-5020-53B23CDF3298}"/>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D557302D-7671-CBD3-DBFA-47D458E4079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21877230-062E-6DBE-A541-FFEED2DA57F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3BABBC16-682F-26C7-F73B-BE792FFAB45A}"/>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BC1EEEA7-E469-1413-018F-959E0DBCF66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1D3FA865-AF35-D2BA-EB97-BBA3A697D1E9}"/>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5594F007-B09C-4649-75A0-A3C7E3366B3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96366504-2EE3-3BC0-951C-A8F92CB47B34}"/>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EA764B16-9553-CB3E-6E28-EC4390B53418}"/>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73DC35C2-2804-8A15-6C08-F5977C31F65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6005032-12A5-1010-335A-357A9B5229D7}"/>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1AADA6A5-6FF0-7F2C-6FB5-1C018D97C117}"/>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90C25F19-91C2-1BAF-0CAF-932F192DC7D2}"/>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02D95C12-C944-1E54-54AE-F69A921E0CA4}"/>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E932C85A-D2C9-248C-FF8E-9A9B3AEA86A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F250B96A-DD3E-C79B-8833-1B933671E8B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7BC49137-5C3D-B803-FF55-7F14080EFE4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80840CCC-6F12-9DCE-1033-B1F56A949049}"/>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BA043F1C-1F00-902F-B729-B8EFDB8AF11A}"/>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E911C839-A7BA-ECDD-FF52-28027212D4A8}"/>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36348ED3-E2CB-9413-AA98-F7CBB030667B}"/>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1B3C2FE1-75B5-6BC5-E6F3-71C90DEFA490}"/>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Key Takeaways</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2DE9F62B-FCE9-7587-C238-A5CA133FC5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78AC7943-E3DA-A012-BC00-6E83CF285FF4}"/>
              </a:ext>
            </a:extLst>
          </p:cNvPr>
          <p:cNvSpPr>
            <a:spLocks noGrp="1"/>
          </p:cNvSpPr>
          <p:nvPr>
            <p:ph type="sldNum" sz="quarter" idx="12"/>
          </p:nvPr>
        </p:nvSpPr>
        <p:spPr/>
        <p:txBody>
          <a:bodyPr/>
          <a:lstStyle/>
          <a:p>
            <a:fld id="{38A635C9-4A98-4745-BD96-9D0E32025E69}" type="slidenum">
              <a:rPr lang="en-IN" smtClean="0"/>
              <a:t>13</a:t>
            </a:fld>
            <a:endParaRPr lang="en-IN" dirty="0"/>
          </a:p>
        </p:txBody>
      </p:sp>
      <p:sp>
        <p:nvSpPr>
          <p:cNvPr id="6" name="TextBox 5">
            <a:extLst>
              <a:ext uri="{FF2B5EF4-FFF2-40B4-BE49-F238E27FC236}">
                <a16:creationId xmlns:a16="http://schemas.microsoft.com/office/drawing/2014/main" id="{E3739AE1-5777-8320-9F40-03D44D934532}"/>
              </a:ext>
            </a:extLst>
          </p:cNvPr>
          <p:cNvSpPr txBox="1"/>
          <p:nvPr/>
        </p:nvSpPr>
        <p:spPr>
          <a:xfrm>
            <a:off x="655776" y="1354921"/>
            <a:ext cx="10790804" cy="3416320"/>
          </a:xfrm>
          <a:prstGeom prst="rect">
            <a:avLst/>
          </a:prstGeom>
          <a:noFill/>
        </p:spPr>
        <p:txBody>
          <a:bodyPr wrap="square">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Inputs &amp; Climate Drive Yield: </a:t>
            </a:r>
            <a:r>
              <a:rPr lang="en-US" dirty="0" err="1">
                <a:latin typeface="Times New Roman" panose="02020603050405020304" pitchFamily="18" charset="0"/>
                <a:cs typeface="Times New Roman" panose="02020603050405020304" pitchFamily="18" charset="0"/>
              </a:rPr>
              <a:t>fertiliser_per_ha</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irrigation_ratio</a:t>
            </a:r>
            <a:r>
              <a:rPr lang="en-US" dirty="0">
                <a:latin typeface="Times New Roman" panose="02020603050405020304" pitchFamily="18" charset="0"/>
                <a:cs typeface="Times New Roman" panose="02020603050405020304" pitchFamily="18" charset="0"/>
              </a:rPr>
              <a:t> are the most consistent drivers of yield variation (how much is grown).</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Climate Drives Specialization: Seasonal rainfall and temperature are the main drivers of crop specialization (what is grown).</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Feature Engineering is Essential: Models only became effective after creating domain-specific features (e.g., </a:t>
            </a:r>
            <a:r>
              <a:rPr lang="en-US" dirty="0" err="1">
                <a:latin typeface="Times New Roman" panose="02020603050405020304" pitchFamily="18" charset="0"/>
                <a:cs typeface="Times New Roman" panose="02020603050405020304" pitchFamily="18" charset="0"/>
              </a:rPr>
              <a:t>fertiliser_per_ha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post_monsoon_rainfall_mm</a:t>
            </a:r>
            <a:r>
              <a:rPr lang="en-US" dirty="0">
                <a:latin typeface="Times New Roman" panose="02020603050405020304" pitchFamily="18" charset="0"/>
                <a:cs typeface="Times New Roman" panose="02020603050405020304" pitchFamily="18" charset="0"/>
              </a:rPr>
              <a:t>) and using a time-based split.</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District Profiles are Identifiable: Clustering successfully segmented India into 5 distinct agricultural zones, which can be used to inform targeted policy.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9247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2673</TotalTime>
  <Words>785</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Divya Talole</cp:lastModifiedBy>
  <cp:revision>124</cp:revision>
  <dcterms:created xsi:type="dcterms:W3CDTF">2024-06-03T04:50:38Z</dcterms:created>
  <dcterms:modified xsi:type="dcterms:W3CDTF">2025-11-24T16:25:50Z</dcterms:modified>
</cp:coreProperties>
</file>